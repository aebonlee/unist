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3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4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매출(백만원)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A40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78</c:v>
                </c:pt>
                <c:pt idx="2">
                  <c:v>95</c:v>
                </c:pt>
                <c:pt idx="3">
                  <c:v>88</c:v>
                </c:pt>
                <c:pt idx="4">
                  <c:v>112</c:v>
                </c:pt>
                <c:pt idx="5">
                  <c:v>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D7-AB46-90FD-7AAB7A5F33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088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088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빈도</c:v>
                </c:pt>
              </c:strCache>
            </c:strRef>
          </c:tx>
          <c:spPr>
            <a:solidFill>
              <a:srgbClr val="1496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A40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품질</c:v>
                </c:pt>
                <c:pt idx="1">
                  <c:v>배송</c:v>
                </c:pt>
                <c:pt idx="2">
                  <c:v>가격</c:v>
                </c:pt>
                <c:pt idx="3">
                  <c:v>디자인</c:v>
                </c:pt>
                <c:pt idx="4">
                  <c:v>AS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</c:v>
                </c:pt>
                <c:pt idx="1">
                  <c:v>245</c:v>
                </c:pt>
                <c:pt idx="2">
                  <c:v>198</c:v>
                </c:pt>
                <c:pt idx="3">
                  <c:v>156</c:v>
                </c:pt>
                <c:pt idx="4">
                  <c:v>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3B-9B42-BFF3-77DE1B6B6D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A4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088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부정 비율(%)</c:v>
                </c:pt>
              </c:strCache>
            </c:strRef>
          </c:tx>
          <c:spPr>
            <a:solidFill>
              <a:srgbClr val="1C4E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A40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로그인 오류</c:v>
                </c:pt>
                <c:pt idx="1">
                  <c:v>앱 속도</c:v>
                </c:pt>
                <c:pt idx="2">
                  <c:v>결제 실패</c:v>
                </c:pt>
                <c:pt idx="3">
                  <c:v>UI 복잡</c:v>
                </c:pt>
                <c:pt idx="4">
                  <c:v>알림 과다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27</c:v>
                </c:pt>
                <c:pt idx="2">
                  <c:v>19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C8-4046-81E8-BE92243264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A4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088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NG 상관도</c:v>
                </c:pt>
              </c:strCache>
            </c:strRef>
          </c:tx>
          <c:spPr>
            <a:solidFill>
              <a:srgbClr val="1496A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A40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전류</c:v>
                </c:pt>
                <c:pt idx="1">
                  <c:v>통전시간</c:v>
                </c:pt>
                <c:pt idx="2">
                  <c:v>가압력</c:v>
                </c:pt>
                <c:pt idx="3">
                  <c:v>전압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0.62</c:v>
                </c:pt>
                <c:pt idx="1">
                  <c:v>0.48</c:v>
                </c:pt>
                <c:pt idx="2">
                  <c:v>0.31</c:v>
                </c:pt>
                <c:pt idx="3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78-9446-9668-8249F00968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A4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088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69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과정 오프닝. 울산 자동차/제조 산업 현장의 데이터를 직접 다루며 생성형 AI로 분석 전 과정을 경험하는 6시간 실전 과정임을 안내. 코딩 경험이 없어도 Colab+Gemini로 따라올 수 있다고 안심시키기.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대상은 비전공 재직자 중심. 코딩 자체보다 '데이터로 의사결정하는 힘'을 기르는 것이 목표라고 강조. 산출물 4종을 미리 보여주면 동기부여에 좋음.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흐름: 이론(M1)→환경(M2)→데이터 기초(M3)→고객 데이터(M4)→제조 데이터(M5)→통합 시각화·프로젝트(M6). 앞 모듈에서 만든 결과가 뒤 모듈로 이어진다는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4개 핵심 도구. 모두 무료/브라우저 기반이라 설치 부담이 없음을 강조. Colab 계정(구글) 준비 여부를 사전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울산은 현대차·현대중공업 등 제조 클러스터. AX는 DX의 다음 단계로, 'AI가 직접 판단'하는 점이 핵심. 사례 3종은 모두 울산 제조 현장에서 실제 적용되는 영역.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문해력은 도구를 다루는 것 이전의 '판단력'. 비전공자에게는 코드보다 이 4가지 능력이 핵심이라고 강조. KAT/Bloom 관점에서 '해석·활용'이 고차원 사고임을 연결해도 좋음.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4단계는 과정 전체의 뼈대. 각 모듈이 이 흐름의 어느 부분을 다루는지 매 모듈 시작 시 연결해 주면 학습자가 길을 잃지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 선택은 '용도에 맞게'. 보안은 제조 현장에서 특히 민감 — 도면/공정 파라미터/고객정보는 외부 LLM 입력 금지 원칙을 명확히. 환각(hallucination) 검증 책임은 사람에게 있음을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Colab은 '구글 문서처럼 쉬운 파이썬 노트북'. 실습 전 모두 colab.research.google.com 접속+첫 셀 실행을 함께 해보며 런타임 연결 개념을 체득. M5(애플 실리콘) 로컬 호환성 이슈는 클라우드를 쓰는 또 다른 이유.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PTCF는 좋은 프롬프트의 4기둥. 같은 작업도 PTCF를 갖추면 결과 품질이 급상승. 학습자에게 '나쁜 프롬프트 vs PTCF 프롬프트'를 직접 비교 실행시키면 효과적.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메시지: 코드를 외우는 게 아니라 '원하는 것을 정확히 묘사'하면 AI가 코드를 만든다. 생성된 코드를 실행→오류 시 에러 메시지를 그대로 붙여 수정 요청하는 '대화형 디버깅'을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'정형 데이터'의 3원칙: 1머리글·1관측치·단일타입. 합계행/단위혼용/병합셀이 분석을 망치는 대표 원인. 표 이미지를 Gemini에 넣어 CSV로 받는 워크플로우를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describe() 한 줄이면 8대 지표가 나옴. 숫자를 '읽는' 것을 넘어 '그래서 무엇을 할지'(인사이트)로 연결하는 게 데이터 문해력. 평균만 보지 말고 분산·이상치도 함께 보라고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워드클라우드는 '무엇이 많이 언급됐나'를 한눈에. 단, 빈도≠중요도임을 주의(불용어 제거 필수). 다음 모듈(M4)에서 실제 고객 리뷰로 이 기법을 그대로 적용.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현대 원앱 리뷰를 실제 데이터로 사용. 패키지명(com.hyundai.oneapp.kr)은 Play 스토어 URL에서 확인. 크롤링 윤리(공개데이터·과도요청 자제·비식별화)를 반드시 함께 교육.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테마 분류는 Gemini에 '이 리뷰들을 5개 주제로 묶고 각 주제의 대표 불만을 요약해줘'라고 요청하면 됨. 페인포인트는 '빈도×심각도'로 우선순위화. 38% 로그인 오류가 1순위라는 식의 의사결정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Canvas는 '분석 결과를 보고서로'를 자동화. 단 AI 초안은 출발점일 뿐, 현장 맥락·실행 가능성은 사람이 채워야 함. 리포트 5단 구조를 템플릿으로 제공하면 실무 적용이 쉬움.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KAMP는 중소 제조기업이 활용할 수 있는 핵심 자원. 용접 4대 변수와 품질의 관계는 현장 작업자에게 친숙한 도메인 지식 — 도메인 이해가 좋은 분석의 전제임을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EDA는 모델링 전 '데이터와 친해지는' 단계. 상관 히트맵·그룹 평균 비교로 어떤 변수가 품질을 좌우하는지 가설을 세움. 상관≠인과임을 주의 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4대 지표의 의미를 쉽게: 정확도=전체 정답률, 정밀도=NG라 한 것 중 진짜 NG, 재현율=실제 NG를 얼마나 잡았나, F1=둘의 균형. 제조 불량은 '놓치면 큰일'이라 재현율이 특히 중요. 변수 중요도로 현장 개선점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NotebookLM의 강점은 '내 자료에만 근거' → 환각이 적고 출처 추적 가능. 이번 과정에서 만든 모든 산출물(코드·리포트·CSV)을 업로드해 팀 공유용 지식 패키지로 만드는 프로젝트.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마무리: 6시간 동안 만든 결과물을 '리포트+대시보드+지식맵' 패키지로 완성. 분석에서 끝나지 않고 '현업에서 계속 쓸 수 있는 도구'로 만드는 것이 목표.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6개 모듈을 한 화면에 정리하며 학습자에게 성취감을 줌. 역량 체크리스트는 자기평가용으로도 활용 — 가장 자신 있는/더 연습할 항목을 표시하게 하면 좋음.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'완벽한 데이터'를 기다리지 말고 가진 데이터로 작게 시작하라는 메시지. AI는 파트너지 대체재가 아님 — 사람의 검증·판단이 핵심. 다음 로드맵으로 학습 동기를 이어줌.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핵심 메시지 한 줄: '데이터는 함께 만드는 것'. Q&amp;A로 학습자의 현업 데이터 고민을 받아 즉석에서 PTCF 프롬프트로 풀어보는 시연을 하면 강한 마무리가 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image" Target="../media/image35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3.png"/><Relationship Id="rId4" Type="http://schemas.openxmlformats.org/officeDocument/2006/relationships/image" Target="../media/image44.png"/><Relationship Id="rId9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50.png"/><Relationship Id="rId4" Type="http://schemas.openxmlformats.org/officeDocument/2006/relationships/image" Target="../media/image12.png"/><Relationship Id="rId9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C4E80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-457200"/>
            <a:ext cx="2377440" cy="2377440"/>
          </a:xfrm>
          <a:prstGeom prst="ellipse">
            <a:avLst/>
          </a:prstGeom>
          <a:solidFill>
            <a:srgbClr val="1496A6">
              <a:alpha val="3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188720" y="4572000"/>
            <a:ext cx="3474720" cy="3474720"/>
          </a:xfrm>
          <a:prstGeom prst="ellipse">
            <a:avLst/>
          </a:prstGeom>
          <a:solidFill>
            <a:srgbClr val="1C4E80">
              <a:alpha val="1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713232"/>
            <a:ext cx="603504" cy="603504"/>
          </a:xfrm>
          <a:prstGeom prst="ellipse">
            <a:avLst/>
          </a:prstGeom>
          <a:solidFill>
            <a:srgbClr val="2DD4B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86410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71323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울산 중소기업 현장 연계 전문인력 양성과정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</a:t>
            </a:r>
            <a:endParaRPr lang="en-US" sz="5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48640" y="40416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F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 산업 현장 데이터로 배우는 실전 데이터 분석 워크플로우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069848" cy="384048"/>
          </a:xfrm>
          <a:prstGeom prst="roundRect">
            <a:avLst>
              <a:gd name="adj" fmla="val 50000"/>
            </a:avLst>
          </a:prstGeom>
          <a:solidFill>
            <a:srgbClr val="12294B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5029200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6시간 과정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01368" y="50292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12294B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1801368" y="5029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+ Gemini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41648" y="5029200"/>
            <a:ext cx="1933956" cy="384048"/>
          </a:xfrm>
          <a:prstGeom prst="roundRect">
            <a:avLst>
              <a:gd name="adj" fmla="val 50000"/>
            </a:avLst>
          </a:prstGeom>
          <a:solidFill>
            <a:srgbClr val="12294B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041648" y="5029200"/>
            <a:ext cx="1933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Canvas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58484" y="5029200"/>
            <a:ext cx="1563624" cy="384048"/>
          </a:xfrm>
          <a:prstGeom prst="roundRect">
            <a:avLst>
              <a:gd name="adj" fmla="val 50000"/>
            </a:avLst>
          </a:prstGeom>
          <a:solidFill>
            <a:srgbClr val="12294B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158484" y="502920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04988" y="5029200"/>
            <a:ext cx="1563624" cy="384048"/>
          </a:xfrm>
          <a:prstGeom prst="roundRect">
            <a:avLst>
              <a:gd name="adj" fmla="val 50000"/>
            </a:avLst>
          </a:prstGeom>
          <a:solidFill>
            <a:srgbClr val="12294B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904988" y="502920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 제조데이터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989320"/>
            <a:ext cx="3840480" cy="0"/>
          </a:xfrm>
          <a:prstGeom prst="line">
            <a:avLst/>
          </a:prstGeom>
          <a:noFill/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48640" y="61081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8FA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</a:t>
            </a:r>
            <a:r>
              <a:rPr lang="en-US" sz="1200" dirty="0">
                <a:solidFill>
                  <a:srgbClr val="8FA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Ph.D. 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이애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aebon@hs.ac.kr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sz="1150" dirty="0">
                <a:solidFill>
                  <a:srgbClr val="8FA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DreamIT Biz · 한신대학교 AI·SW대학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COURSE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개요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1525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591056"/>
            <a:ext cx="30580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en-US" sz="1700" b="1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시간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41248" y="2249424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교육 시수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8218" y="1481328"/>
            <a:ext cx="351525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612538" y="1591056"/>
            <a:ext cx="30580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en-US" sz="1700" b="1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30826" y="2249424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학습 모듈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27797" y="1481328"/>
            <a:ext cx="351525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402117" y="1591056"/>
            <a:ext cx="30580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r>
              <a:rPr lang="en-US" sz="1700" b="1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20405" y="2249424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실습·프로젝트 주제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07792"/>
            <a:ext cx="5364328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4672" y="3163824"/>
            <a:ext cx="566928" cy="566928"/>
          </a:xfrm>
          <a:prstGeom prst="ellipse">
            <a:avLst/>
          </a:prstGeom>
          <a:solidFill>
            <a:srgbClr val="1C4E8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3305556"/>
            <a:ext cx="283464" cy="28346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17904" y="3127248"/>
            <a:ext cx="417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대상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517904" y="3474720"/>
            <a:ext cx="4175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실무를 시작하려는 울산 중소기업 재직자 · 현장 실무자 (비전공자 포함)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78728" y="2907792"/>
            <a:ext cx="5364328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6534760" y="3163824"/>
            <a:ext cx="566928" cy="566928"/>
          </a:xfrm>
          <a:prstGeom prst="ellipse">
            <a:avLst/>
          </a:prstGeom>
          <a:solidFill>
            <a:srgbClr val="1496A6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492" y="3305556"/>
            <a:ext cx="283464" cy="28346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47992" y="3127248"/>
            <a:ext cx="417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7247992" y="3474720"/>
            <a:ext cx="4175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AI를 활용해 수집→전처리→분석→인사이트 도출까지 분석 전 과정을 스스로 수행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48640" y="4517136"/>
            <a:ext cx="5364328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04672" y="4773168"/>
            <a:ext cx="566928" cy="566928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4914900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517904" y="4736592"/>
            <a:ext cx="417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방식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1517904" y="5084064"/>
            <a:ext cx="4175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이론(20%) + 실습(60%) + 프로젝트(20%). Colab 환경에서 실제 제조·고객 데이터로 핸즈온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278728" y="4517136"/>
            <a:ext cx="5364328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6534760" y="4773168"/>
            <a:ext cx="566928" cy="566928"/>
          </a:xfrm>
          <a:prstGeom prst="ellipse">
            <a:avLst/>
          </a:prstGeom>
          <a:solidFill>
            <a:srgbClr val="0C1E3C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492" y="4914900"/>
            <a:ext cx="283464" cy="28346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47992" y="4736592"/>
            <a:ext cx="417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산출물</a:t>
            </a:r>
            <a:endParaRPr lang="en-US" sz="1550" dirty="0"/>
          </a:p>
        </p:txBody>
      </p:sp>
      <p:sp>
        <p:nvSpPr>
          <p:cNvPr id="32" name="Text 26"/>
          <p:cNvSpPr/>
          <p:nvPr/>
        </p:nvSpPr>
        <p:spPr>
          <a:xfrm>
            <a:off x="7247992" y="5084064"/>
            <a:ext cx="4175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용접 품질 예측 모델 · 고객 리뷰 분석 리포트 · NotebookLM 지식맵 · 앱 대시보드 기획안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LEARNING 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6시간 학습 로드맵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47868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86384" y="1865376"/>
            <a:ext cx="457200" cy="45720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186074" y="1847088"/>
            <a:ext cx="512064" cy="512064"/>
          </a:xfrm>
          <a:prstGeom prst="ellipse">
            <a:avLst/>
          </a:prstGeom>
          <a:solidFill>
            <a:srgbClr val="EAF1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090" y="197510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46888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 산업 AX와</a:t>
            </a:r>
            <a:endParaRPr lang="en-US" sz="1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리터러시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04672" y="304495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04672" y="3044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· 1시간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56506" y="1627632"/>
            <a:ext cx="347868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594250" y="1865376"/>
            <a:ext cx="457200" cy="457200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59425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993941" y="1847088"/>
            <a:ext cx="512064" cy="512064"/>
          </a:xfrm>
          <a:prstGeom prst="ellipse">
            <a:avLst/>
          </a:prstGeom>
          <a:solidFill>
            <a:srgbClr val="EAF1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957" y="197510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12538" y="246888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기반</a:t>
            </a:r>
            <a:endParaRPr lang="en-US" sz="1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 환경 구축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4612538" y="304495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4612538" y="3044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이론·실습 · 1시간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164373" y="1627632"/>
            <a:ext cx="347868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8402117" y="1865376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8402117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10801807" y="1847088"/>
            <a:ext cx="512064" cy="512064"/>
          </a:xfrm>
          <a:prstGeom prst="ellipse">
            <a:avLst/>
          </a:prstGeom>
          <a:solidFill>
            <a:srgbClr val="EAF1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9823" y="197510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20405" y="246888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데이터</a:t>
            </a:r>
            <a:endParaRPr lang="en-US" sz="1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및 통계 분석</a:t>
            </a:r>
            <a:endParaRPr lang="en-US" sz="1450" dirty="0"/>
          </a:p>
        </p:txBody>
      </p:sp>
      <p:sp>
        <p:nvSpPr>
          <p:cNvPr id="26" name="Shape 21"/>
          <p:cNvSpPr/>
          <p:nvPr/>
        </p:nvSpPr>
        <p:spPr>
          <a:xfrm>
            <a:off x="8420405" y="304495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/>
          <p:nvPr/>
        </p:nvSpPr>
        <p:spPr>
          <a:xfrm>
            <a:off x="8420405" y="3044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· 1시간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48640" y="3813048"/>
            <a:ext cx="347868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786384" y="4050792"/>
            <a:ext cx="457200" cy="45720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/>
          <p:nvPr/>
        </p:nvSpPr>
        <p:spPr>
          <a:xfrm>
            <a:off x="786384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700" dirty="0"/>
          </a:p>
        </p:txBody>
      </p:sp>
      <p:sp>
        <p:nvSpPr>
          <p:cNvPr id="31" name="Shape 26"/>
          <p:cNvSpPr/>
          <p:nvPr/>
        </p:nvSpPr>
        <p:spPr>
          <a:xfrm>
            <a:off x="3186074" y="4032504"/>
            <a:ext cx="512064" cy="512064"/>
          </a:xfrm>
          <a:prstGeom prst="ellipse">
            <a:avLst/>
          </a:prstGeom>
          <a:solidFill>
            <a:srgbClr val="EAF1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090" y="4160520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04672" y="4654296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반응 데이터</a:t>
            </a:r>
            <a:endParaRPr lang="en-US" sz="1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및 분석</a:t>
            </a:r>
            <a:endParaRPr lang="en-US" sz="1450" dirty="0"/>
          </a:p>
        </p:txBody>
      </p:sp>
      <p:sp>
        <p:nvSpPr>
          <p:cNvPr id="34" name="Shape 28"/>
          <p:cNvSpPr/>
          <p:nvPr/>
        </p:nvSpPr>
        <p:spPr>
          <a:xfrm>
            <a:off x="804672" y="52303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/>
          <p:nvPr/>
        </p:nvSpPr>
        <p:spPr>
          <a:xfrm>
            <a:off x="804672" y="5230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· 1시간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4356506" y="3813048"/>
            <a:ext cx="347868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4594250" y="4050792"/>
            <a:ext cx="457200" cy="457200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/>
          <p:nvPr/>
        </p:nvSpPr>
        <p:spPr>
          <a:xfrm>
            <a:off x="459425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700" dirty="0"/>
          </a:p>
        </p:txBody>
      </p:sp>
      <p:sp>
        <p:nvSpPr>
          <p:cNvPr id="39" name="Shape 33"/>
          <p:cNvSpPr/>
          <p:nvPr/>
        </p:nvSpPr>
        <p:spPr>
          <a:xfrm>
            <a:off x="6993941" y="4032504"/>
            <a:ext cx="512064" cy="512064"/>
          </a:xfrm>
          <a:prstGeom prst="ellipse">
            <a:avLst/>
          </a:prstGeom>
          <a:solidFill>
            <a:srgbClr val="EAF1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1957" y="4160520"/>
            <a:ext cx="256032" cy="25603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612538" y="4654296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공정</a:t>
            </a:r>
            <a:endParaRPr lang="en-US" sz="1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데이터 분석</a:t>
            </a:r>
            <a:endParaRPr lang="en-US" sz="1450" dirty="0"/>
          </a:p>
        </p:txBody>
      </p:sp>
      <p:sp>
        <p:nvSpPr>
          <p:cNvPr id="42" name="Shape 35"/>
          <p:cNvSpPr/>
          <p:nvPr/>
        </p:nvSpPr>
        <p:spPr>
          <a:xfrm>
            <a:off x="4612538" y="52303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6"/>
          <p:cNvSpPr/>
          <p:nvPr/>
        </p:nvSpPr>
        <p:spPr>
          <a:xfrm>
            <a:off x="4612538" y="5230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· 1시간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8164373" y="3813048"/>
            <a:ext cx="347868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8"/>
          <p:cNvSpPr/>
          <p:nvPr/>
        </p:nvSpPr>
        <p:spPr>
          <a:xfrm>
            <a:off x="8402117" y="4050792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9"/>
          <p:cNvSpPr/>
          <p:nvPr/>
        </p:nvSpPr>
        <p:spPr>
          <a:xfrm>
            <a:off x="8402117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10801807" y="4032504"/>
            <a:ext cx="512064" cy="512064"/>
          </a:xfrm>
          <a:prstGeom prst="ellipse">
            <a:avLst/>
          </a:prstGeom>
          <a:solidFill>
            <a:srgbClr val="EAF1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9823" y="4160520"/>
            <a:ext cx="256032" cy="256032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420405" y="4654296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도구 활용</a:t>
            </a:r>
            <a:endParaRPr lang="en-US" sz="1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 시각화</a:t>
            </a:r>
            <a:endParaRPr lang="en-US" sz="1450" dirty="0"/>
          </a:p>
        </p:txBody>
      </p:sp>
      <p:sp>
        <p:nvSpPr>
          <p:cNvPr id="50" name="Shape 42"/>
          <p:cNvSpPr/>
          <p:nvPr/>
        </p:nvSpPr>
        <p:spPr>
          <a:xfrm>
            <a:off x="8420405" y="52303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3"/>
          <p:cNvSpPr/>
          <p:nvPr/>
        </p:nvSpPr>
        <p:spPr>
          <a:xfrm>
            <a:off x="8420405" y="5230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· 1시간</a:t>
            </a:r>
            <a:endParaRPr lang="en-US" sz="950" dirty="0"/>
          </a:p>
        </p:txBody>
      </p:sp>
      <p:sp>
        <p:nvSpPr>
          <p:cNvPr id="52" name="Text 4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53" name="Text 4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 &amp; ENVIRONMENT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환경 한눈에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54148" cy="3931920"/>
          </a:xfrm>
          <a:prstGeom prst="roundRect">
            <a:avLst>
              <a:gd name="adj" fmla="val 322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41666" y="1911096"/>
            <a:ext cx="768096" cy="768096"/>
          </a:xfrm>
          <a:prstGeom prst="ellipse">
            <a:avLst/>
          </a:prstGeom>
          <a:solidFill>
            <a:srgbClr val="1C4E8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690" y="21031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82549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Colab + Gemini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3447288"/>
            <a:ext cx="21518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불필요. 브라우저만으로 파이썬 분석 환경. 내장 Gemini가 코드를 자동 생성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57034" y="505663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57034" y="5056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M2~M5 전 실습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95396" y="1600200"/>
            <a:ext cx="2554148" cy="3931920"/>
          </a:xfrm>
          <a:prstGeom prst="roundRect">
            <a:avLst>
              <a:gd name="adj" fmla="val 322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288422" y="1911096"/>
            <a:ext cx="768096" cy="768096"/>
          </a:xfrm>
          <a:prstGeom prst="ellipse">
            <a:avLst/>
          </a:prstGeom>
          <a:solidFill>
            <a:srgbClr val="1496A6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446" y="210312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9988" y="282549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Canvas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96564" y="3447288"/>
            <a:ext cx="21518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결과를 문서·앱으로 자동 변환. 리포트와 대시보드 초안 제작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803790" y="505663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3803790" y="5056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 · M6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42152" y="1600200"/>
            <a:ext cx="2554148" cy="3931920"/>
          </a:xfrm>
          <a:prstGeom prst="roundRect">
            <a:avLst>
              <a:gd name="adj" fmla="val 322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135178" y="1911096"/>
            <a:ext cx="768096" cy="768096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202" y="210312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6744" y="282549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NotebookLM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43320" y="3447288"/>
            <a:ext cx="21518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코드·자료를 업로드해 지식 구조화. 슬라이드·마인드맵·오디오 생성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650546" y="505663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/>
          <p:nvPr/>
        </p:nvSpPr>
        <p:spPr>
          <a:xfrm>
            <a:off x="6650546" y="5056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 프로젝트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088907" y="1600200"/>
            <a:ext cx="2554148" cy="3931920"/>
          </a:xfrm>
          <a:prstGeom prst="roundRect">
            <a:avLst>
              <a:gd name="adj" fmla="val 322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9981933" y="1911096"/>
            <a:ext cx="768096" cy="768096"/>
          </a:xfrm>
          <a:prstGeom prst="ellipse">
            <a:avLst/>
          </a:prstGeom>
          <a:solidFill>
            <a:srgbClr val="0C1E3C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3957" y="2103120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53499" y="282549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 · 앱스토어 데이터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290075" y="3447288"/>
            <a:ext cx="21518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용접 데이터셋(KAMP) + 현대 원앱 고객 리뷰 데이터 활용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497301" y="505663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/>
          <p:nvPr/>
        </p:nvSpPr>
        <p:spPr>
          <a:xfrm>
            <a:off x="9497301" y="5056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 · M5 데이터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291840"/>
            <a:ext cx="4754880" cy="4754880"/>
          </a:xfrm>
          <a:prstGeom prst="ellipse">
            <a:avLst/>
          </a:prstGeom>
          <a:solidFill>
            <a:srgbClr val="1C4E8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389120"/>
            <a:ext cx="2377440" cy="2377440"/>
          </a:xfrm>
          <a:prstGeom prst="ellipse">
            <a:avLst/>
          </a:prstGeom>
          <a:solidFill>
            <a:srgbClr val="1496A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2880360" y="1993392"/>
            <a:ext cx="914400" cy="914400"/>
          </a:xfrm>
          <a:prstGeom prst="ellipse">
            <a:avLst/>
          </a:prstGeom>
          <a:solidFill>
            <a:srgbClr val="2DD4B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2219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383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 산업 AX와</a:t>
            </a:r>
            <a:endParaRPr lang="en-US" sz="3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리터러시</a:t>
            </a:r>
            <a:endParaRPr lang="en-US" sz="3300" dirty="0"/>
          </a:p>
        </p:txBody>
      </p:sp>
      <p:sp>
        <p:nvSpPr>
          <p:cNvPr id="9" name="Shape 6"/>
          <p:cNvSpPr/>
          <p:nvPr/>
        </p:nvSpPr>
        <p:spPr>
          <a:xfrm>
            <a:off x="548640" y="437083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66544" y="43708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2066544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1시간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5065776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41248" y="497433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트렌드와 제조 AI 혁신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4864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41248" y="539496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업무 생산성 혁신 · 데이터 분석 워크플로우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90702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41248" y="58155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목적별 생성형 AI 도구와 윤리·보안 가이드라인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 · 자동차 산업 AX와 데이터 리터러시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 산업 AX 동향과 제조 AI 혁신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297680" cy="4160520"/>
          </a:xfrm>
          <a:prstGeom prst="roundRect">
            <a:avLst>
              <a:gd name="adj" fmla="val 1978"/>
            </a:avLst>
          </a:prstGeom>
          <a:solidFill>
            <a:srgbClr val="0C1E3C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" y="17922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란?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1396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Transformation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560320"/>
            <a:ext cx="3730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핵심 동력으로 제품·공정·업무 전반을 재설계하는 전환. 디지털 전환(DX)을 넘어 'AI가 의사결정에 직접 개입'하는 단계.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41248" y="3584448"/>
            <a:ext cx="3712464" cy="0"/>
          </a:xfrm>
          <a:prstGeom prst="line">
            <a:avLst/>
          </a:prstGeom>
          <a:noFill/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41248" y="38221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3822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스마트팩토리 · 공정 자동화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42611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42611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예지보전(Predictive Maintenance)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470001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47000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AI 기반 품질검사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51389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51389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 · 공급망 최적화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1572768"/>
            <a:ext cx="6430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현장 AI 혁신 사례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12080" y="2011680"/>
            <a:ext cx="6430975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49824" y="2304288"/>
            <a:ext cx="585216" cy="585216"/>
          </a:xfrm>
          <a:prstGeom prst="ellipse">
            <a:avLst/>
          </a:prstGeom>
          <a:solidFill>
            <a:srgbClr val="1C4E8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2450592"/>
            <a:ext cx="292608" cy="2926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181344" y="2212848"/>
            <a:ext cx="5242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AI 품질검사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181344" y="2560320"/>
            <a:ext cx="5223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용접·도장 표면 결함을 카메라+딥러닝으로 실시간 판정 → 검사 인력·불량 유출 감소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212080" y="3310128"/>
            <a:ext cx="6430975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449824" y="3602736"/>
            <a:ext cx="585216" cy="585216"/>
          </a:xfrm>
          <a:prstGeom prst="ellipse">
            <a:avLst/>
          </a:prstGeom>
          <a:solidFill>
            <a:srgbClr val="1496A6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3749040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181344" y="3511296"/>
            <a:ext cx="5242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예지보전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181344" y="3858768"/>
            <a:ext cx="5223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센서 데이터로 고장 시점을 사전 예측 → 비계획 정지(다운타임) 최소화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5212080" y="4608576"/>
            <a:ext cx="6430975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5449824" y="4901184"/>
            <a:ext cx="585216" cy="585216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5047488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181344" y="4809744"/>
            <a:ext cx="5242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수요·생산 예측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6181344" y="5157216"/>
            <a:ext cx="5223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판매·재고 데이터 기반 생산계획 자동 수립 → 과잉생산·결품 동시 감소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 · 자동차 산업 AX와 데이터 리터러시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데이터 문해력(Data Literacy)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문해력 = 데이터를 읽고, 해석하고, 근거로 소통하는 능력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256786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494244" y="2340864"/>
            <a:ext cx="676656" cy="676656"/>
          </a:xfrm>
          <a:prstGeom prst="ellipse">
            <a:avLst/>
          </a:prstGeom>
          <a:solidFill>
            <a:srgbClr val="1C4E8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408" y="2510028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3127248"/>
            <a:ext cx="227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(Read)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456432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표·그래프·지표가 무엇을 의미하는지 정확히 파악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90824" y="2066544"/>
            <a:ext cx="256786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336428" y="2340864"/>
            <a:ext cx="676656" cy="676656"/>
          </a:xfrm>
          <a:prstGeom prst="ellipse">
            <a:avLst/>
          </a:prstGeom>
          <a:solidFill>
            <a:srgbClr val="1496A6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592" y="2510028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7128" y="3127248"/>
            <a:ext cx="227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(Interpret)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73704" y="3456432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수치의 맥락·원인·이상치를 비판적으로 판단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33008" y="2066544"/>
            <a:ext cx="256786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7178611" y="2340864"/>
            <a:ext cx="676656" cy="676656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776" y="2510028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9312" y="3127248"/>
            <a:ext cx="227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(Apply)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15888" y="3456432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근거로 공정·업무 개선 의사결정에 적용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75191" y="2066544"/>
            <a:ext cx="256786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10020795" y="2340864"/>
            <a:ext cx="676656" cy="676656"/>
          </a:xfrm>
          <a:prstGeom prst="ellipse">
            <a:avLst/>
          </a:prstGeom>
          <a:solidFill>
            <a:srgbClr val="0C1E3C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9959" y="2510028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21495" y="3127248"/>
            <a:ext cx="227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소통 (Communicate)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258071" y="3456432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결과를 동료·경영진이 이해하도록 전달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160520"/>
            <a:ext cx="11094415" cy="1572768"/>
          </a:xfrm>
          <a:prstGeom prst="roundRect">
            <a:avLst>
              <a:gd name="adj" fmla="val 5233"/>
            </a:avLst>
          </a:prstGeom>
          <a:solidFill>
            <a:srgbClr val="0C1E3C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/>
          <p:nvPr/>
        </p:nvSpPr>
        <p:spPr>
          <a:xfrm>
            <a:off x="877824" y="43342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왜 중요한가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77824" y="4754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900" dirty="0"/>
          </a:p>
        </p:txBody>
      </p:sp>
      <p:sp>
        <p:nvSpPr>
          <p:cNvPr id="28" name="Text 22"/>
          <p:cNvSpPr/>
          <p:nvPr/>
        </p:nvSpPr>
        <p:spPr>
          <a:xfrm>
            <a:off x="1335024" y="4736592"/>
            <a:ext cx="28386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E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감(感)에 의존한 판단 → 데이터 기반 판단으로 전환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447946" y="4754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900" dirty="0"/>
          </a:p>
        </p:txBody>
      </p:sp>
      <p:sp>
        <p:nvSpPr>
          <p:cNvPr id="30" name="Text 24"/>
          <p:cNvSpPr/>
          <p:nvPr/>
        </p:nvSpPr>
        <p:spPr>
          <a:xfrm>
            <a:off x="4905146" y="4736592"/>
            <a:ext cx="28386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E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시대, '질문하는 힘'의 전제 조건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8018069" y="4754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900" dirty="0"/>
          </a:p>
        </p:txBody>
      </p:sp>
      <p:sp>
        <p:nvSpPr>
          <p:cNvPr id="32" name="Text 26"/>
          <p:cNvSpPr/>
          <p:nvPr/>
        </p:nvSpPr>
        <p:spPr>
          <a:xfrm>
            <a:off x="8475269" y="4736592"/>
            <a:ext cx="28386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E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문제를 데이터로 정의해야 AI가 풀 수 있음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 · 자동차 산업 AX와 데이터 리터러시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워크플로우 4단계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과정 전체가 따라가는 분석 파이프라인입니다 — 모든 모듈이 이 흐름 위에 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348408" cy="3063240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494244" y="2423160"/>
            <a:ext cx="457200" cy="45720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94244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57084" y="3017520"/>
            <a:ext cx="731520" cy="731520"/>
          </a:xfrm>
          <a:prstGeom prst="ellipse">
            <a:avLst/>
          </a:prstGeom>
          <a:solidFill>
            <a:srgbClr val="EAF1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964" y="32004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849624"/>
            <a:ext cx="216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" y="4160520"/>
            <a:ext cx="216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4944" y="4453128"/>
            <a:ext cx="205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현장·웹·플랫폼에서 데이터 확보</a:t>
            </a:r>
            <a:endParaRPr lang="en-US" sz="105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(KAMP, 앱스토어 리뷰, 사내 표)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5064" y="3355848"/>
            <a:ext cx="310896" cy="3108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63976" y="2148840"/>
            <a:ext cx="2348408" cy="3063240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4409580" y="2423160"/>
            <a:ext cx="457200" cy="457200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44095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4272420" y="3017520"/>
            <a:ext cx="731520" cy="731520"/>
          </a:xfrm>
          <a:prstGeom prst="ellipse">
            <a:avLst/>
          </a:prstGeom>
          <a:solidFill>
            <a:srgbClr val="EAF1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5300" y="32004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55416" y="3849624"/>
            <a:ext cx="216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3555416" y="4160520"/>
            <a:ext cx="216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Preprocess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610280" y="4453128"/>
            <a:ext cx="205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결측·이상치 처리, 표 정형화,</a:t>
            </a:r>
            <a:endParaRPr lang="en-US" sz="105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가능한 형태로 정제</a:t>
            </a:r>
            <a:endParaRPr lang="en-US" sz="10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400" y="3355848"/>
            <a:ext cx="310896" cy="31089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379312" y="2148840"/>
            <a:ext cx="2348408" cy="3063240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7324916" y="24231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/>
          <p:nvPr/>
        </p:nvSpPr>
        <p:spPr>
          <a:xfrm>
            <a:off x="7324916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7187756" y="3017520"/>
            <a:ext cx="731520" cy="731520"/>
          </a:xfrm>
          <a:prstGeom prst="ellipse">
            <a:avLst/>
          </a:prstGeom>
          <a:solidFill>
            <a:srgbClr val="EAF1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636" y="320040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70752" y="3849624"/>
            <a:ext cx="216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6470752" y="4160520"/>
            <a:ext cx="216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525616" y="4453128"/>
            <a:ext cx="205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통계·시각화·모델링으로</a:t>
            </a:r>
            <a:endParaRPr lang="en-US" sz="105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패턴과 관계 발견</a:t>
            </a:r>
            <a:endParaRPr lang="en-US" sz="105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5735" y="3355848"/>
            <a:ext cx="310896" cy="310896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9294647" y="2148840"/>
            <a:ext cx="2348408" cy="3063240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5"/>
          <p:cNvSpPr/>
          <p:nvPr/>
        </p:nvSpPr>
        <p:spPr>
          <a:xfrm>
            <a:off x="10240251" y="2423160"/>
            <a:ext cx="457200" cy="457200"/>
          </a:xfrm>
          <a:prstGeom prst="ellipse">
            <a:avLst/>
          </a:prstGeom>
          <a:solidFill>
            <a:srgbClr val="0C1E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6"/>
          <p:cNvSpPr/>
          <p:nvPr/>
        </p:nvSpPr>
        <p:spPr>
          <a:xfrm>
            <a:off x="10240251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Shape 27"/>
          <p:cNvSpPr/>
          <p:nvPr/>
        </p:nvSpPr>
        <p:spPr>
          <a:xfrm>
            <a:off x="10103091" y="3017520"/>
            <a:ext cx="731520" cy="731520"/>
          </a:xfrm>
          <a:prstGeom prst="ellipse">
            <a:avLst/>
          </a:prstGeom>
          <a:solidFill>
            <a:srgbClr val="EAF1F9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5971" y="3200400"/>
            <a:ext cx="365760" cy="3657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386087" y="3849624"/>
            <a:ext cx="216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인사이트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9386087" y="4160520"/>
            <a:ext cx="216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Insight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9440951" y="4453128"/>
            <a:ext cx="205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의사결정·개선안으로</a:t>
            </a:r>
            <a:endParaRPr lang="en-US" sz="105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(리포트·대시보드)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548640" y="5486400"/>
            <a:ext cx="11094415" cy="658368"/>
          </a:xfrm>
          <a:prstGeom prst="roundRect">
            <a:avLst>
              <a:gd name="adj" fmla="val 12500"/>
            </a:avLst>
          </a:prstGeom>
          <a:solidFill>
            <a:srgbClr val="E4F4F2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2"/>
          <p:cNvSpPr/>
          <p:nvPr/>
        </p:nvSpPr>
        <p:spPr>
          <a:xfrm>
            <a:off x="822960" y="548640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r>
              <a:rPr lang="en-US" sz="12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AI는 4단계 '전 구간'에서 보조 역할을 합니다 — 수집 코드 생성, 전처리 자동화, 분석 해석, 리포트 작성까지.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43" name="Text 3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 · 자동차 산업 AX와 데이터 리터러시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목적별 생성형 AI 도구 &amp; 윤리·보안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목적별 생성형 AI 도구 선택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126480" cy="226771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특장점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A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생성·분석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A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Colab + Gemini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A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데이터에 바로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A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문서·앱 제작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A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Canvas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A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리포트→앱 자동화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A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지식 구조화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A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NotebookLM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A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자료 기반 요약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A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작문·기획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A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· ChatGPT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A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맥락·추론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1517904"/>
            <a:ext cx="4556455" cy="4206240"/>
          </a:xfrm>
          <a:prstGeom prst="roundRect">
            <a:avLst>
              <a:gd name="adj" fmla="val 1957"/>
            </a:avLst>
          </a:prstGeom>
          <a:solidFill>
            <a:srgbClr val="0C1E3C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379208" y="1773936"/>
            <a:ext cx="640080" cy="640080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228" y="1933956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29016" y="1810512"/>
            <a:ext cx="3367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윤리 &amp; 제조 데이터 보안</a:t>
            </a:r>
            <a:endParaRPr lang="en-US" sz="1550" dirty="0"/>
          </a:p>
        </p:txBody>
      </p:sp>
      <p:sp>
        <p:nvSpPr>
          <p:cNvPr id="5" name="Shape 6"/>
          <p:cNvSpPr/>
          <p:nvPr/>
        </p:nvSpPr>
        <p:spPr>
          <a:xfrm>
            <a:off x="7397496" y="2651760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7690104" y="2560320"/>
            <a:ext cx="368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E7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기밀·도면·고객정보는 외부 AI에 입력 금지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397496" y="3255264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690104" y="3163824"/>
            <a:ext cx="368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E7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가명·비식별화 후 분석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397496" y="3858768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7690104" y="3767328"/>
            <a:ext cx="368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E7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결과는 반드시 사람이 검증 (환각 주의)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397496" y="4462272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7690104" y="4370832"/>
            <a:ext cx="368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E7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저작권·라이선스 확인 후 데이터 활용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397496" y="5065776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7690104" y="4974336"/>
            <a:ext cx="368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E7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근거·출처를 기록해 재현성 확보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291840"/>
            <a:ext cx="4754880" cy="4754880"/>
          </a:xfrm>
          <a:prstGeom prst="ellipse">
            <a:avLst/>
          </a:prstGeom>
          <a:solidFill>
            <a:srgbClr val="1C4E8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389120"/>
            <a:ext cx="2377440" cy="2377440"/>
          </a:xfrm>
          <a:prstGeom prst="ellipse">
            <a:avLst/>
          </a:prstGeom>
          <a:solidFill>
            <a:srgbClr val="1496A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2880360" y="1993392"/>
            <a:ext cx="914400" cy="914400"/>
          </a:xfrm>
          <a:prstGeom prst="ellipse">
            <a:avLst/>
          </a:prstGeom>
          <a:solidFill>
            <a:srgbClr val="2DD4B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2219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383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기반</a:t>
            </a:r>
            <a:endParaRPr lang="en-US" sz="3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 환경 구축</a:t>
            </a:r>
            <a:endParaRPr lang="en-US" sz="3300" dirty="0"/>
          </a:p>
        </p:txBody>
      </p:sp>
      <p:sp>
        <p:nvSpPr>
          <p:cNvPr id="9" name="Shape 6"/>
          <p:cNvSpPr/>
          <p:nvPr/>
        </p:nvSpPr>
        <p:spPr>
          <a:xfrm>
            <a:off x="548640" y="437083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이론·실습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66544" y="43708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2066544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1시간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5065776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41248" y="497433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설치 및 사용법 · 클라우드 vs 로컬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4864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41248" y="539496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엔지니어링 PTCF 원칙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90702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41248" y="58155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Gemini를 활용한 분석 코드 자동 생성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2 · 클라우드 기반 AI 분석 환경 구축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vs 로컬, 그리고 Colab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760720" cy="1975104"/>
          </a:xfrm>
          <a:prstGeom prst="roundRect">
            <a:avLst>
              <a:gd name="adj" fmla="val 4167"/>
            </a:avLst>
          </a:prstGeom>
          <a:solidFill>
            <a:srgbClr val="E4F4F2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4672" y="1847088"/>
            <a:ext cx="603504" cy="603504"/>
          </a:xfrm>
          <a:prstGeom prst="ellipse">
            <a:avLst/>
          </a:prstGeom>
          <a:solidFill>
            <a:srgbClr val="1496A6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19979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18836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(Colab)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59536" y="252374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42416" y="25237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불필요 · 브라우저만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" y="277063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42416" y="27706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GPU/TPU 제공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9536" y="301752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42416" y="301752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드라이브 연동·공유 쉬움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9536" y="326440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42416" y="32644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어디서나 동일 환경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694176"/>
            <a:ext cx="576072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04672" y="3968496"/>
            <a:ext cx="603504" cy="603504"/>
          </a:xfrm>
          <a:prstGeom prst="ellipse">
            <a:avLst/>
          </a:prstGeom>
          <a:solidFill>
            <a:srgbClr val="5B7088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4119372"/>
            <a:ext cx="301752" cy="30175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17904" y="4005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(내 PC)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859536" y="464515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42416" y="46451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설치·버전 관리 필요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59536" y="489204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042416" y="48920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사양에 성능 의존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59536" y="513892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042416" y="51389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오프라인·보안 데이터 적합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59536" y="538581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042416" y="53858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M5 칩 등 ARM 호환성 이슈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93408" y="1572768"/>
            <a:ext cx="4949647" cy="4160520"/>
          </a:xfrm>
          <a:prstGeom prst="roundRect">
            <a:avLst>
              <a:gd name="adj" fmla="val 1978"/>
            </a:avLst>
          </a:prstGeom>
          <a:solidFill>
            <a:srgbClr val="0C1E3C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6986016" y="1792224"/>
            <a:ext cx="44010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인터페이스 핵심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6986016" y="228600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6986016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셀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8339328" y="2286000"/>
            <a:ext cx="3029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E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코드를 작성·실행 (Shift+Enter)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986016" y="2944368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0"/>
          <p:cNvSpPr/>
          <p:nvPr/>
        </p:nvSpPr>
        <p:spPr>
          <a:xfrm>
            <a:off x="6986016" y="29443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셀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8339328" y="2944368"/>
            <a:ext cx="3029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E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설명·제목을 마크다운으로 기록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6986016" y="3602736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/>
          <p:nvPr/>
        </p:nvSpPr>
        <p:spPr>
          <a:xfrm>
            <a:off x="6986016" y="36027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8339328" y="3602736"/>
            <a:ext cx="3029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E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환경. '연결' 후 코드 실행 가능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6986016" y="4261104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6"/>
          <p:cNvSpPr/>
          <p:nvPr/>
        </p:nvSpPr>
        <p:spPr>
          <a:xfrm>
            <a:off x="6986016" y="426110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패널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8339328" y="4261104"/>
            <a:ext cx="3029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E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업로드·드라이브 마운트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6986016" y="4919472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9"/>
          <p:cNvSpPr/>
          <p:nvPr/>
        </p:nvSpPr>
        <p:spPr>
          <a:xfrm>
            <a:off x="6986016" y="49194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8339328" y="4919472"/>
            <a:ext cx="3029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E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옆 ✨ 아이콘으로 코드 자동 생성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2 · 클라우드 기반 AI 분석 환경 구축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엔지니어링 — PTCF 원칙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91056"/>
            <a:ext cx="256786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94244" y="1847088"/>
            <a:ext cx="676656" cy="676656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494244" y="18470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615184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38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역할 부여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" y="3255264"/>
            <a:ext cx="2275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“너는 제조 데이터 분석가야”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90824" y="1591056"/>
            <a:ext cx="256786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36428" y="1847088"/>
            <a:ext cx="676656" cy="676656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336428" y="18470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82264" y="2615184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82264" y="2926080"/>
            <a:ext cx="238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작업 지시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37128" y="3255264"/>
            <a:ext cx="2275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“CSV의 결측치를 처리하는 코드”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1591056"/>
            <a:ext cx="256786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178611" y="1847088"/>
            <a:ext cx="676656" cy="67665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178611" y="18470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24448" y="2615184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24448" y="2926080"/>
            <a:ext cx="238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배경·제약 제공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79312" y="3255264"/>
            <a:ext cx="2275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“용접 공정 데이터, 컬럼은 전류·전압…”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75191" y="1591056"/>
            <a:ext cx="256786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0020795" y="1847088"/>
            <a:ext cx="676656" cy="676656"/>
          </a:xfrm>
          <a:prstGeom prst="ellipse">
            <a:avLst/>
          </a:prstGeom>
          <a:solidFill>
            <a:srgbClr val="0C1E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0020795" y="18470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166631" y="2615184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66631" y="2926080"/>
            <a:ext cx="238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형식 지정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21495" y="3255264"/>
            <a:ext cx="2275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“주석 포함 파이썬 코드로만”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11094415" cy="1627632"/>
          </a:xfrm>
          <a:prstGeom prst="roundRect">
            <a:avLst>
              <a:gd name="adj" fmla="val 3371"/>
            </a:avLst>
          </a:prstGeom>
          <a:solidFill>
            <a:srgbClr val="0E2440"/>
          </a:solidFill>
          <a:ln/>
          <a:effectLst>
            <a:outerShdw blurRad="889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13232" y="4206240"/>
            <a:ext cx="107652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✨ 완성형 프롬프트 예시 — PTCF 적용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4498848"/>
            <a:ext cx="1072865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[Persona]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제조 공정 데이터를 다루는 데이터 분석가야.
</a:t>
            </a:r>
            <a:r>
              <a:rPr lang="en-US" sz="1000" b="1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[Task]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업로드한 welding.csv의 결측치를 확인하고 평균값으로 대체하는 코드를 작성해줘.
</a:t>
            </a:r>
            <a:r>
              <a:rPr lang="en-US" sz="1000" b="1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[Context]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컬럼은 가압력, 시간, 전류, 전압, 품질판정(OK/NG)이야.
</a:t>
            </a:r>
            <a:r>
              <a:rPr lang="en-US" sz="1000" b="1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[Format]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한국어 주석을 포함한 pandas 코드로만, 단계별로 설명 없이 코드만 출력해.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2 · 클라우드 기반 AI 분석 환경 구축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Gemini로 분석 코드 자동 생성 [실습]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흐름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4114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9808" y="2157984"/>
            <a:ext cx="420624" cy="420624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49808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16736" y="20665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업로드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16736" y="23774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CSV를 Colab에 업로드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889504"/>
            <a:ext cx="4114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49808" y="3108960"/>
            <a:ext cx="420624" cy="420624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4980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16736" y="30175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작성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16736" y="33284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PTCF로 '요약 통계' 요청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4114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49808" y="4059936"/>
            <a:ext cx="420624" cy="420624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49808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16736" y="39684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생성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16736" y="42793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✨가 셀에 코드 삽입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91456"/>
            <a:ext cx="4114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49808" y="5010912"/>
            <a:ext cx="420624" cy="420624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9808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16736" y="4919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실행·검증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16736" y="52303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확인 후 수정 요청 반복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47488" y="1591056"/>
            <a:ext cx="6595567" cy="841248"/>
          </a:xfrm>
          <a:prstGeom prst="roundRect">
            <a:avLst>
              <a:gd name="adj" fmla="val 8696"/>
            </a:avLst>
          </a:prstGeom>
          <a:solidFill>
            <a:srgbClr val="E4F4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266944" y="17007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66944" y="1956816"/>
            <a:ext cx="6156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"welding.csv를 읽어서 기초 통계와 품질판정(OK/NG) 비율을 보여주는 코드를 작성해줘. 한국어 주석 포함."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47488" y="2596896"/>
            <a:ext cx="6595567" cy="3127248"/>
          </a:xfrm>
          <a:prstGeom prst="roundRect">
            <a:avLst>
              <a:gd name="adj" fmla="val 1754"/>
            </a:avLst>
          </a:prstGeom>
          <a:solidFill>
            <a:srgbClr val="0E2440"/>
          </a:solidFill>
          <a:ln/>
          <a:effectLst>
            <a:outerShdw blurRad="889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212080" y="2688336"/>
            <a:ext cx="62663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자동 생성 결과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30368" y="2980944"/>
            <a:ext cx="6229807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</a:t>
            </a: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
df = pd.read_csv(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"welding.csv"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0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기초 통계 요약
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print(df.describe())
</a:t>
            </a:r>
            <a:r>
              <a:rPr lang="en-US" sz="100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품질판정 비율 (OK / NG)
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df[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"품질판정"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].value_counts(normalize=</a:t>
            </a: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print((ratio * 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).round(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r>
              <a:rPr lang="en-US" sz="100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결측치 확인
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print(df.isnull().sum())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291840"/>
            <a:ext cx="4754880" cy="4754880"/>
          </a:xfrm>
          <a:prstGeom prst="ellipse">
            <a:avLst/>
          </a:prstGeom>
          <a:solidFill>
            <a:srgbClr val="1C4E8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389120"/>
            <a:ext cx="2377440" cy="2377440"/>
          </a:xfrm>
          <a:prstGeom prst="ellipse">
            <a:avLst/>
          </a:prstGeom>
          <a:solidFill>
            <a:srgbClr val="1496A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2880360" y="1993392"/>
            <a:ext cx="914400" cy="914400"/>
          </a:xfrm>
          <a:prstGeom prst="ellipse">
            <a:avLst/>
          </a:prstGeom>
          <a:solidFill>
            <a:srgbClr val="2DD4B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2219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383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데이터</a:t>
            </a:r>
            <a:endParaRPr lang="en-US" sz="3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및 통계 분석</a:t>
            </a:r>
            <a:endParaRPr lang="en-US" sz="3300" dirty="0"/>
          </a:p>
        </p:txBody>
      </p:sp>
      <p:sp>
        <p:nvSpPr>
          <p:cNvPr id="9" name="Shape 6"/>
          <p:cNvSpPr/>
          <p:nvPr/>
        </p:nvSpPr>
        <p:spPr>
          <a:xfrm>
            <a:off x="548640" y="437083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66544" y="43708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2066544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1시간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5065776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41248" y="497433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내 표 데이터 정형화 · 통계 수치 분석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4864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41248" y="539496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추출 기반 데이터 시각화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90702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41248" y="58155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 기반 인사이트 도출·요약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3 · 비즈니스 데이터 정제 및 통계 분석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속 표 데이터 정형화 [실습]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비정형 → 정형 데이터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852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68096" y="20299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— 보고서 속 뒤섞인 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2322576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셀 병합·머리글 중복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단위·날짜 형식 제각각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결측·합계 행이 데이터와 섞임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3346704"/>
            <a:ext cx="402336" cy="402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840480"/>
            <a:ext cx="5852160" cy="1371600"/>
          </a:xfrm>
          <a:prstGeom prst="roundRect">
            <a:avLst>
              <a:gd name="adj" fmla="val 6000"/>
            </a:avLst>
          </a:prstGeom>
          <a:solidFill>
            <a:srgbClr val="E4F4F2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68096" y="3950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— 분석 가능한 정형 테이블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" y="4242816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1행=1머리글, 1행=1관측치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컬럼별 단일 데이터 타입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결측·합계 분리, CSV로 저장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84848" y="1591056"/>
            <a:ext cx="4858207" cy="786384"/>
          </a:xfrm>
          <a:prstGeom prst="roundRect">
            <a:avLst>
              <a:gd name="adj" fmla="val 9302"/>
            </a:avLst>
          </a:prstGeom>
          <a:solidFill>
            <a:srgbClr val="FCF1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986016" y="1682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81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86016" y="1920240"/>
            <a:ext cx="44558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표 이미지를 분석 가능한 정형 테이블(CSV)로 변환해줘. 합계 행은 제외하고 날짜는 YYYY-MM-DD로 통일."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84848" y="2542032"/>
            <a:ext cx="4858207" cy="3182112"/>
          </a:xfrm>
          <a:prstGeom prst="roundRect">
            <a:avLst>
              <a:gd name="adj" fmla="val 1724"/>
            </a:avLst>
          </a:prstGeom>
          <a:solidFill>
            <a:srgbClr val="0E2440"/>
          </a:solidFill>
          <a:ln/>
          <a:effectLst>
            <a:outerShdw blurRad="889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949440" y="2633472"/>
            <a:ext cx="4529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생성 — 정제 코드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967728" y="2926080"/>
            <a:ext cx="4492447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표 정제 후 정형화
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df.dropna(how=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df = df[df[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"구분"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!= 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"합계"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df[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"날짜"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pd.to_datetime(
    df[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"날짜"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df[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"매출"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(df[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"매출"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    .str.replace(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).astype(</a:t>
            </a: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df.to_csv(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"clean.csv"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index=</a:t>
            </a: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3 · 비즈니스 데이터 정제 및 통계 분석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수치 분석 &amp; 핵심 지표 도출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꼭 보는 통계 지표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45720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8096" y="2157984"/>
            <a:ext cx="420624" cy="420624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2263140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206654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/ 중앙값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16736" y="237744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대표값 — 분포가 치우치면 중앙값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889504"/>
            <a:ext cx="45720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8096" y="3108960"/>
            <a:ext cx="420624" cy="420624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214116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16736" y="301752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표준편차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316736" y="33284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흩어진 정도(변동성)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45720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768096" y="4059936"/>
            <a:ext cx="420624" cy="420624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4165092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16736" y="39684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/ 최대 / 사분위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16736" y="427939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범위와 이상치 탐지(IQR)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791456"/>
            <a:ext cx="45720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768096" y="5010912"/>
            <a:ext cx="420624" cy="420624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5116068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16736" y="491947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상관계수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316736" y="52303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변수 간 관계 강도(-1~1)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504688" y="1517904"/>
            <a:ext cx="61383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— 월별 매출 추이 분석</a:t>
            </a:r>
            <a:endParaRPr lang="en-US" sz="14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5504688" y="1938528"/>
          <a:ext cx="6138367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Shape 20"/>
          <p:cNvSpPr/>
          <p:nvPr/>
        </p:nvSpPr>
        <p:spPr>
          <a:xfrm>
            <a:off x="5504688" y="4572000"/>
            <a:ext cx="6138367" cy="1152144"/>
          </a:xfrm>
          <a:prstGeom prst="roundRect">
            <a:avLst>
              <a:gd name="adj" fmla="val 7143"/>
            </a:avLst>
          </a:prstGeom>
          <a:solidFill>
            <a:srgbClr val="0C1E3C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/>
          <p:nvPr/>
        </p:nvSpPr>
        <p:spPr>
          <a:xfrm>
            <a:off x="5779008" y="4572000"/>
            <a:ext cx="5589727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인사이트  </a:t>
            </a:r>
            <a:r>
              <a:rPr lang="en-US" sz="1150" dirty="0">
                <a:solidFill>
                  <a:srgbClr val="DCE7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3개월 매출이 평균 대비 +28% 상승, 5~6월 가속. 표준편차 확대 → 성장 추세이나 변동성도 함께 점검 필요.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3 · 비즈니스 데이터 정제 및 통계 분석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추출 &amp; 데이터 시각화 [실습]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9087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8096" y="1938528"/>
            <a:ext cx="603504" cy="603504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865376"/>
            <a:ext cx="23935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텍스트 수집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81328" y="2267712"/>
            <a:ext cx="239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리뷰·문서 등 텍스트 확보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0410" y="1554480"/>
            <a:ext cx="349087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69866" y="1938528"/>
            <a:ext cx="603504" cy="603504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742" y="20894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3098" y="1865376"/>
            <a:ext cx="23935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키워드 추출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283098" y="2267712"/>
            <a:ext cx="239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형태소 분석·빈도 계산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52181" y="1554480"/>
            <a:ext cx="349087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8371637" y="1938528"/>
            <a:ext cx="603504" cy="603504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513" y="20894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84869" y="1865376"/>
            <a:ext cx="23935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워드클라우드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084869" y="2267712"/>
            <a:ext cx="239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빈도→시각적 강조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163824"/>
            <a:ext cx="5943600" cy="2560320"/>
          </a:xfrm>
          <a:prstGeom prst="roundRect">
            <a:avLst>
              <a:gd name="adj" fmla="val 2143"/>
            </a:avLst>
          </a:prstGeom>
          <a:solidFill>
            <a:srgbClr val="0E2440"/>
          </a:solidFill>
          <a:ln/>
          <a:effectLst>
            <a:outerShdw blurRad="889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713232" y="3255264"/>
            <a:ext cx="5614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워드클라우드 생성 코드 (Colab)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731520" y="3547872"/>
            <a:ext cx="55778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 </a:t>
            </a: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
</a:t>
            </a: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wordcloud </a:t>
            </a: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WordCloud
</a:t>
            </a:r>
            <a:r>
              <a:rPr lang="en-US" sz="100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한글 형태소에서 명사만 추출
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extract_nouns(reviews)
freq = Counter(words)
wc = WordCloud(
    font_path=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"NanumGothic.ttf"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background_color=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"white"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wc.generate_from_frequencies(freq)
wc.to_image()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876288" y="3163824"/>
            <a:ext cx="47667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빈도 (상위 5)</a:t>
            </a:r>
            <a:endParaRPr lang="en-US" sz="13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784848" y="3511296"/>
          <a:ext cx="4858207" cy="2212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291840"/>
            <a:ext cx="4754880" cy="4754880"/>
          </a:xfrm>
          <a:prstGeom prst="ellipse">
            <a:avLst/>
          </a:prstGeom>
          <a:solidFill>
            <a:srgbClr val="1C4E8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389120"/>
            <a:ext cx="2377440" cy="2377440"/>
          </a:xfrm>
          <a:prstGeom prst="ellipse">
            <a:avLst/>
          </a:prstGeom>
          <a:solidFill>
            <a:srgbClr val="1496A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2880360" y="1993392"/>
            <a:ext cx="914400" cy="914400"/>
          </a:xfrm>
          <a:prstGeom prst="ellipse">
            <a:avLst/>
          </a:prstGeom>
          <a:solidFill>
            <a:srgbClr val="2DD4B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2219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383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반응 데이터</a:t>
            </a:r>
            <a:endParaRPr lang="en-US" sz="3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및 분석</a:t>
            </a:r>
            <a:endParaRPr lang="en-US" sz="3300" dirty="0"/>
          </a:p>
        </p:txBody>
      </p:sp>
      <p:sp>
        <p:nvSpPr>
          <p:cNvPr id="9" name="Shape 6"/>
          <p:cNvSpPr/>
          <p:nvPr/>
        </p:nvSpPr>
        <p:spPr>
          <a:xfrm>
            <a:off x="548640" y="437083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66544" y="43708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2066544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1시간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5065776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41248" y="497433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앱스토어 리뷰 데이터 자동 수집(크롤링)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4864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41248" y="539496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분석 및 핵심 페인포인트 추출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90702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41248" y="58155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개선 리포트 작성 (Gemini Canvas)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4 · 고객 반응 데이터 수집 및 분석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앱스토어 리뷰 자동 수집 [실습]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프로세스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4206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9808" y="2157984"/>
            <a:ext cx="420624" cy="420624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49808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16736" y="20665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앱 선정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23774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 원앱(Google Play) 리뷰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889504"/>
            <a:ext cx="4206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49808" y="3108960"/>
            <a:ext cx="420624" cy="420624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4980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16736" y="30175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 설치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16736" y="33284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google-play-scraper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4206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49808" y="4059936"/>
            <a:ext cx="420624" cy="420624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49808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16736" y="39684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크롤링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16736" y="42793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별점·날짜·본문 자동 수집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91456"/>
            <a:ext cx="4206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49808" y="5010912"/>
            <a:ext cx="420624" cy="420624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9808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16736" y="49194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데이터프레임화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16736" y="52303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분석용 CSV로 저장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38928" y="1591056"/>
            <a:ext cx="6504127" cy="3200400"/>
          </a:xfrm>
          <a:prstGeom prst="roundRect">
            <a:avLst>
              <a:gd name="adj" fmla="val 1714"/>
            </a:avLst>
          </a:prstGeom>
          <a:solidFill>
            <a:srgbClr val="0E2440"/>
          </a:solidFill>
          <a:ln/>
          <a:effectLst>
            <a:outerShdw blurRad="889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303520" y="1682496"/>
            <a:ext cx="61749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리뷰 크롤링 코드 (Colab + Gemini)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21808" y="1975104"/>
            <a:ext cx="6138367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google-play-scraper
</a:t>
            </a: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google_play_scraper </a:t>
            </a: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
result, _ = reviews(
    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"com.hyundai.oneapp.kr"</a:t>
            </a:r>
            <a:r>
              <a:rPr lang="en-US" sz="100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# 현대 원앱
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lang=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"ko"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country=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"kr"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count=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df = pd.DataFrame(result)
df = df[[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"at"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
df.to_csv(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"reviews.csv"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index=</a:t>
            </a: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38928" y="4937760"/>
            <a:ext cx="6504127" cy="786384"/>
          </a:xfrm>
          <a:prstGeom prst="roundRect">
            <a:avLst>
              <a:gd name="adj" fmla="val 10465"/>
            </a:avLst>
          </a:prstGeom>
          <a:solidFill>
            <a:srgbClr val="EAF1F9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394960" y="4937760"/>
            <a:ext cx="599206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 </a:t>
            </a:r>
            <a:r>
              <a:rPr lang="en-US" sz="11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리뷰만 수집하며 과도한 요청은 자제. 개인 식별정보는 저장·분석에서 제외(비식별화).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4 · 고객 반응 데이터 수집 및 분석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분석 &amp; 페인포인트 추출 [실습]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→ 인사이트 분석 단계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48463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8096" y="2176272"/>
            <a:ext cx="438912" cy="438912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68096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35024" y="2103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분류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35024" y="243230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별점·문장으로 긍정/부정 라벨링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4846320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68096" y="3383280"/>
            <a:ext cx="438912" cy="438912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68096" y="3383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35024" y="33101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분류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35024" y="3639312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리뷰를 주제별 그룹화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(로그인·속도·UI·결제 등)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48463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68096" y="4773168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68096" y="4773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35024" y="47000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페인포인트 추출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35024" y="50292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 리뷰에서 반복되는 핵심 불만 도출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79008" y="151790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테마별 부정 리뷰 비중 (예시)</a:t>
            </a:r>
            <a:endParaRPr lang="en-US" sz="14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5687568" y="1920240"/>
          <a:ext cx="5955487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5779008" y="4572000"/>
            <a:ext cx="5864047" cy="1152144"/>
          </a:xfrm>
          <a:prstGeom prst="roundRect">
            <a:avLst>
              <a:gd name="adj" fmla="val 7143"/>
            </a:avLst>
          </a:prstGeom>
          <a:solidFill>
            <a:srgbClr val="0C1E3C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6053328" y="4572000"/>
            <a:ext cx="5315407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페인포인트  </a:t>
            </a:r>
            <a:r>
              <a:rPr lang="en-US" sz="1150" dirty="0">
                <a:solidFill>
                  <a:srgbClr val="DCE7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'로그인 오류'가 부정 리뷰의 38%로 최우선 개선 과제. 다음 단계에서 이를 제품 개선 리포트로 전환.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4 · 고객 반응 데이터 수집 및 분석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개선 리포트 작성 (Gemini Canvas)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Canvas 리포트 생성 흐름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4114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9808" y="2157984"/>
            <a:ext cx="420624" cy="420624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49808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16736" y="20665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 정리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23774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테마·페인포인트·수치 취합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889504"/>
            <a:ext cx="4114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49808" y="3108960"/>
            <a:ext cx="420624" cy="420624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4980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16736" y="30175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Canvas에 요청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16736" y="33284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구조 프롬프트 입력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4114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49808" y="4059936"/>
            <a:ext cx="420624" cy="420624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49808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16736" y="39684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자동 생성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16736" y="42793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문서·표·차트 초안 작성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91456"/>
            <a:ext cx="4114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49808" y="5010912"/>
            <a:ext cx="420624" cy="420624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9808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16736" y="49194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검토·수정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16736" y="52303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맥락 반영해 보완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47488" y="1591056"/>
            <a:ext cx="6595567" cy="4133088"/>
          </a:xfrm>
          <a:prstGeom prst="roundRect">
            <a:avLst>
              <a:gd name="adj" fmla="val 1991"/>
            </a:avLst>
          </a:prstGeom>
          <a:solidFill>
            <a:srgbClr val="0C1E3C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340096" y="1847088"/>
            <a:ext cx="603504" cy="603504"/>
          </a:xfrm>
          <a:prstGeom prst="ellipse">
            <a:avLst/>
          </a:prstGeom>
          <a:solidFill>
            <a:srgbClr val="2DD4B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972" y="1997964"/>
            <a:ext cx="301752" cy="30175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071616" y="1883664"/>
            <a:ext cx="54068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개선 리포트 표준 구조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5358384" y="26151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분석 개요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516368" y="2615184"/>
            <a:ext cx="3852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출처·기간·규모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358384" y="3218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고객 반응 요약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516368" y="3218688"/>
            <a:ext cx="3852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긍정/부정 비율, 핵심 테마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358384" y="3822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핵심 페인포인트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516368" y="3822192"/>
            <a:ext cx="3852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우선순위별 불만 + 근거 리뷰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358384" y="4425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개선 제안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7516368" y="4425696"/>
            <a:ext cx="3852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문제별 구체적 액션 아이템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358384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기대 효과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516368" y="5029200"/>
            <a:ext cx="3852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시 예상 지표 변화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291840"/>
            <a:ext cx="4754880" cy="4754880"/>
          </a:xfrm>
          <a:prstGeom prst="ellipse">
            <a:avLst/>
          </a:prstGeom>
          <a:solidFill>
            <a:srgbClr val="1C4E8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389120"/>
            <a:ext cx="2377440" cy="2377440"/>
          </a:xfrm>
          <a:prstGeom prst="ellipse">
            <a:avLst/>
          </a:prstGeom>
          <a:solidFill>
            <a:srgbClr val="1496A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2880360" y="1993392"/>
            <a:ext cx="914400" cy="914400"/>
          </a:xfrm>
          <a:prstGeom prst="ellipse">
            <a:avLst/>
          </a:prstGeom>
          <a:solidFill>
            <a:srgbClr val="2DD4B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2219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383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공정</a:t>
            </a:r>
            <a:endParaRPr lang="en-US" sz="3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데이터 분석</a:t>
            </a:r>
            <a:endParaRPr lang="en-US" sz="3300" dirty="0"/>
          </a:p>
        </p:txBody>
      </p:sp>
      <p:sp>
        <p:nvSpPr>
          <p:cNvPr id="9" name="Shape 6"/>
          <p:cNvSpPr/>
          <p:nvPr/>
        </p:nvSpPr>
        <p:spPr>
          <a:xfrm>
            <a:off x="548640" y="437083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66544" y="43708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2066544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1시간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5065776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41248" y="497433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 용접 데이터 도메인 분석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4864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41248" y="539496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용접 데이터 수집·전처리·EDA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90702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41248" y="58155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예측 모델링 및 성능 검증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5 · 제조 공정 품질 데이터 분석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 플랫폼 &amp; 용접 공정 변수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11094415" cy="914400"/>
          </a:xfrm>
          <a:prstGeom prst="roundRect">
            <a:avLst>
              <a:gd name="adj" fmla="val 9000"/>
            </a:avLst>
          </a:prstGeom>
          <a:solidFill>
            <a:srgbClr val="0C1E3C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682496"/>
            <a:ext cx="585216" cy="585216"/>
          </a:xfrm>
          <a:prstGeom prst="ellipse">
            <a:avLst/>
          </a:prstGeom>
          <a:solidFill>
            <a:srgbClr val="2DD4B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8288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17904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 (인공지능 제조 플랫폼)  </a:t>
            </a:r>
            <a:r>
              <a:rPr lang="en-US" sz="115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정부가 제공하는 제조 AI 데이터셋·분석 환경. 용접·사출 등 실제 공정 데이터를 무료로 활용 가능  </a:t>
            </a: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(kamp-ai.kr)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6151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용접 공정 핵심 변수와 품질 상관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256786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512532" y="3255264"/>
            <a:ext cx="640080" cy="640080"/>
          </a:xfrm>
          <a:prstGeom prst="ellipse">
            <a:avLst/>
          </a:prstGeom>
          <a:solidFill>
            <a:srgbClr val="1C4E8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552" y="3415284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3950208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가압력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080" y="4242816"/>
            <a:ext cx="238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76656" y="4480560"/>
            <a:ext cx="231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전극이 누르는 힘.</a:t>
            </a:r>
            <a:endParaRPr lang="en-US" sz="9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과하면 압흔·약하면 미용착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390824" y="3017520"/>
            <a:ext cx="256786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354716" y="3255264"/>
            <a:ext cx="640080" cy="640080"/>
          </a:xfrm>
          <a:prstGeom prst="ellipse">
            <a:avLst/>
          </a:prstGeom>
          <a:solidFill>
            <a:srgbClr val="1496A6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736" y="3415284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82264" y="3950208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통전 시간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482264" y="4242816"/>
            <a:ext cx="238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3518840" y="4480560"/>
            <a:ext cx="231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전류가 흐르는 시간.</a:t>
            </a:r>
            <a:endParaRPr lang="en-US" sz="9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길면 과열·날림(스패터)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233008" y="3017520"/>
            <a:ext cx="256786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196900" y="3255264"/>
            <a:ext cx="640080" cy="640080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919" y="3415284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24448" y="3950208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전류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324448" y="4242816"/>
            <a:ext cx="238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6361024" y="4480560"/>
            <a:ext cx="231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용접부 발열의 핵심.</a:t>
            </a:r>
            <a:endParaRPr lang="en-US" sz="9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 시 강도 미달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075191" y="3017520"/>
            <a:ext cx="256786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10039083" y="3255264"/>
            <a:ext cx="640080" cy="640080"/>
          </a:xfrm>
          <a:prstGeom prst="ellipse">
            <a:avLst/>
          </a:prstGeom>
          <a:solidFill>
            <a:srgbClr val="0C1E3C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9103" y="3415284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166631" y="3950208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전압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9166631" y="4242816"/>
            <a:ext cx="238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Voltage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9203207" y="4480560"/>
            <a:ext cx="231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저항·발열에 영향.</a:t>
            </a:r>
            <a:endParaRPr lang="en-US" sz="9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안정성 좌우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548640" y="5029200"/>
            <a:ext cx="11094415" cy="694944"/>
          </a:xfrm>
          <a:prstGeom prst="roundRect">
            <a:avLst>
              <a:gd name="adj" fmla="val 11842"/>
            </a:avLst>
          </a:prstGeom>
          <a:solidFill>
            <a:srgbClr val="E4F4F2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/>
          <p:nvPr/>
        </p:nvSpPr>
        <p:spPr>
          <a:xfrm>
            <a:off x="822960" y="5029200"/>
            <a:ext cx="105457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목표  </a:t>
            </a:r>
            <a:r>
              <a:rPr lang="en-US" sz="11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4개 변수의 조합이 품질판정(OK/NG)에 어떻게 영향을 주는지 데이터로 규명하고, 불량을 사전 예측하는 모델을 만든다.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5 · 제조 공정 품질 데이터 분석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용접 데이터 수집·전처리·EDA [실습]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EDA(탐색적 데이터 분석) 절차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310896" cy="310896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9202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로드 &amp; 구조 파악 (shape, info)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310896" cy="310896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2377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결측·이상치 처리, 타입 변환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310896" cy="310896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8346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분포·상관관계 시각화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10128"/>
            <a:ext cx="310896" cy="310896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32918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OK/NG 그룹별 변수 차이 비교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943600" cy="1792224"/>
          </a:xfrm>
          <a:prstGeom prst="roundRect">
            <a:avLst>
              <a:gd name="adj" fmla="val 3061"/>
            </a:avLst>
          </a:prstGeom>
          <a:solidFill>
            <a:srgbClr val="0E2440"/>
          </a:solidFill>
          <a:ln/>
          <a:effectLst>
            <a:outerShdw blurRad="889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13232" y="4023360"/>
            <a:ext cx="5614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핵심 코드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4315968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상관관계 히트맵
</a:t>
            </a: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 </a:t>
            </a: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
sns.heatmap(df.corr(), annot=</a:t>
            </a: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cmap=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"Blues"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0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OK/NG 그룹별 평균 비교
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</a:t>
            </a:r>
            <a:r>
              <a:rPr lang="en-US" sz="1000" dirty="0">
                <a:solidFill>
                  <a:srgbClr val="F5C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"품질판정"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).mean()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76288" y="1517904"/>
            <a:ext cx="47667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변수-품질 상관 (예시)</a:t>
            </a:r>
            <a:endParaRPr lang="en-US" sz="14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784848" y="1920240"/>
          <a:ext cx="4858207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6876288" y="4443984"/>
            <a:ext cx="4766767" cy="1280160"/>
          </a:xfrm>
          <a:prstGeom prst="roundRect">
            <a:avLst>
              <a:gd name="adj" fmla="val 6429"/>
            </a:avLst>
          </a:prstGeom>
          <a:solidFill>
            <a:srgbClr val="0C1E3C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7132320" y="4443984"/>
            <a:ext cx="425470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 </a:t>
            </a:r>
            <a:r>
              <a:rPr lang="en-US" sz="1150" dirty="0">
                <a:solidFill>
                  <a:srgbClr val="DCE7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전류가 불량(NG)과 가장 높은 상관(0.62). 전류 관리가 품질의 핵심 레버 → 모델의 주요 입력 변수로 채택.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5 · 제조 공정 품질 데이터 분석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예측 모델링 &amp; 성능 검증 [실습]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모델링 5단계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92608" cy="292608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9264" y="18928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입력(X)·정답(y) 분리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292608" cy="292608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9264" y="229514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학습/검증 데이터 분할 (train/test)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24912"/>
            <a:ext cx="292608" cy="292608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9264" y="2697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모델 학습 (RandomForest 등)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27248"/>
            <a:ext cx="292608" cy="292608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9264" y="309981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후 성능 지표 계산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292608" cy="292608"/>
          </a:xfrm>
          <a:prstGeom prst="ellipse">
            <a:avLst/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9264" y="35021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중요도로 해석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5943600" cy="1700784"/>
          </a:xfrm>
          <a:prstGeom prst="roundRect">
            <a:avLst>
              <a:gd name="adj" fmla="val 3226"/>
            </a:avLst>
          </a:prstGeom>
          <a:solidFill>
            <a:srgbClr val="0E2440"/>
          </a:solidFill>
          <a:ln/>
          <a:effectLst>
            <a:outerShdw blurRad="889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13232" y="4114800"/>
            <a:ext cx="5614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예측 모델 학습 코드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4407408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sklearn.ensemble </a:t>
            </a:r>
            <a:r>
              <a:rPr lang="en-US" sz="1000" dirty="0">
                <a:solidFill>
                  <a:srgbClr val="5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0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
model = RandomForestClassifier()
model.fit(X_train, y_train)
pred = model.predict(X_test)
print(classification_report(y_test, pred))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76288" y="1517904"/>
            <a:ext cx="47667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성능 (예시)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76288" y="1938528"/>
            <a:ext cx="2246224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059168" y="2084832"/>
            <a:ext cx="1880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94.2%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077456" y="2615184"/>
            <a:ext cx="188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42352" y="2651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Accuracy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396832" y="1938528"/>
            <a:ext cx="2246224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579712" y="2084832"/>
            <a:ext cx="1880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91.8%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598000" y="2615184"/>
            <a:ext cx="188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362895" y="2651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76288" y="3145536"/>
            <a:ext cx="2246224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059168" y="3291840"/>
            <a:ext cx="1880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89.5%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077456" y="3822192"/>
            <a:ext cx="188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42352" y="38587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396832" y="3145536"/>
            <a:ext cx="2246224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579712" y="3291840"/>
            <a:ext cx="1880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90.6%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598000" y="3822192"/>
            <a:ext cx="188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F1-Score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362895" y="38587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76288" y="4443984"/>
            <a:ext cx="4766767" cy="1280160"/>
          </a:xfrm>
          <a:prstGeom prst="roundRect">
            <a:avLst>
              <a:gd name="adj" fmla="val 6429"/>
            </a:avLst>
          </a:prstGeom>
          <a:solidFill>
            <a:srgbClr val="E4F4F2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132320" y="4443984"/>
            <a:ext cx="425470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 </a:t>
            </a:r>
            <a:r>
              <a:rPr lang="en-US" sz="11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예측 재현율 89.5% — 실제 불량의 약 9割을 사전 검출. 전류·통전시간이 가장 중요한 변수로 확인.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291840"/>
            <a:ext cx="4754880" cy="4754880"/>
          </a:xfrm>
          <a:prstGeom prst="ellipse">
            <a:avLst/>
          </a:prstGeom>
          <a:solidFill>
            <a:srgbClr val="1C4E8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389120"/>
            <a:ext cx="2377440" cy="2377440"/>
          </a:xfrm>
          <a:prstGeom prst="ellipse">
            <a:avLst/>
          </a:prstGeom>
          <a:solidFill>
            <a:srgbClr val="1496A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2880360" y="1993392"/>
            <a:ext cx="914400" cy="914400"/>
          </a:xfrm>
          <a:prstGeom prst="ellipse">
            <a:avLst/>
          </a:prstGeom>
          <a:solidFill>
            <a:srgbClr val="2DD4B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2219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383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도구 활용</a:t>
            </a:r>
            <a:endParaRPr lang="en-US" sz="3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 시각화</a:t>
            </a:r>
            <a:endParaRPr lang="en-US" sz="3300" dirty="0"/>
          </a:p>
        </p:txBody>
      </p:sp>
      <p:sp>
        <p:nvSpPr>
          <p:cNvPr id="9" name="Shape 6"/>
          <p:cNvSpPr/>
          <p:nvPr/>
        </p:nvSpPr>
        <p:spPr>
          <a:xfrm>
            <a:off x="548640" y="437083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496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66544" y="43708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2066544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1시간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5065776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41248" y="497433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활용 지식 구조화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4864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41248" y="539496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슬라이드·마인드맵 등 생성물 제작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90702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41248" y="58155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리포트 및 앱 대시보드 제작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6 · AI 도구 활용 분석 결과 시각화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NotebookLM으로 지식 구조화 [프로젝트]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활용 흐름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493776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86384" y="2194560"/>
            <a:ext cx="548640" cy="548640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3317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소스 업로드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44752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코드·CSV·리포트·PDF를 업로드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127248"/>
            <a:ext cx="493776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3383280"/>
            <a:ext cx="548640" cy="548640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5204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44752" y="33101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근거 기반 Q&amp;A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444752" y="3657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자료만 근거로 질문·요약 (환각↓)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315968"/>
            <a:ext cx="493776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786384" y="4572000"/>
            <a:ext cx="548640" cy="548640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7091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44752" y="4498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스튜디오 생성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444752" y="4846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슬라이드·마인드맵·오디오 자동 제작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870448" y="1591056"/>
            <a:ext cx="5772607" cy="4133088"/>
          </a:xfrm>
          <a:prstGeom prst="roundRect">
            <a:avLst>
              <a:gd name="adj" fmla="val 1991"/>
            </a:avLst>
          </a:prstGeom>
          <a:solidFill>
            <a:srgbClr val="0C1E3C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6163056" y="1810512"/>
            <a:ext cx="52239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스튜디오 산출물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181344" y="2340864"/>
            <a:ext cx="512064" cy="512064"/>
          </a:xfrm>
          <a:prstGeom prst="ellipse">
            <a:avLst/>
          </a:prstGeom>
          <a:solidFill>
            <a:srgbClr val="1C4E8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4688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39712" y="2304288"/>
            <a:ext cx="45838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/ 브리핑 문서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39712" y="2615184"/>
            <a:ext cx="4583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C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핵심을 발표 자료로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181344" y="3182112"/>
            <a:ext cx="512064" cy="512064"/>
          </a:xfrm>
          <a:prstGeom prst="ellipse">
            <a:avLst/>
          </a:prstGeom>
          <a:solidFill>
            <a:srgbClr val="1C4E8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310128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39712" y="3145536"/>
            <a:ext cx="45838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마인드맵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839712" y="3456432"/>
            <a:ext cx="4583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C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개념·결과 관계를 한 장으로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81344" y="4023360"/>
            <a:ext cx="512064" cy="512064"/>
          </a:xfrm>
          <a:prstGeom prst="ellipse">
            <a:avLst/>
          </a:prstGeom>
          <a:solidFill>
            <a:srgbClr val="1C4E8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15137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39712" y="3986784"/>
            <a:ext cx="45838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개요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839712" y="4297680"/>
            <a:ext cx="4583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C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진행자의 대화형 요약(팟캐스트)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81344" y="4864608"/>
            <a:ext cx="512064" cy="512064"/>
          </a:xfrm>
          <a:prstGeom prst="ellipse">
            <a:avLst/>
          </a:prstGeom>
          <a:solidFill>
            <a:srgbClr val="1C4E8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4992624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839712" y="4828032"/>
            <a:ext cx="45838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 · 학습 가이드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6839712" y="5138928"/>
            <a:ext cx="4583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C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공유용 Q&amp;A 문서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39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6 · AI 도구 활용 분석 결과 시각화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리포트 &amp; 앱 대시보드 제작 [프로젝트]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85216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4672" y="1810512"/>
            <a:ext cx="566928" cy="566928"/>
          </a:xfrm>
          <a:prstGeom prst="ellipse">
            <a:avLst/>
          </a:prstGeom>
          <a:solidFill>
            <a:srgbClr val="1496A6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195224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9616" y="182880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Canvas — 최종 분석 리포트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450592"/>
            <a:ext cx="5340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모듈의 분석 결과를 하나의 문서로 통합 — 개요·데이터·분석·인사이트·제언을 자동 구성하고, 현장 맥락을 더해 완성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749040"/>
            <a:ext cx="5852160" cy="1975104"/>
          </a:xfrm>
          <a:prstGeom prst="roundRect">
            <a:avLst>
              <a:gd name="adj" fmla="val 4167"/>
            </a:avLst>
          </a:prstGeom>
          <a:solidFill>
            <a:srgbClr val="0C1E3C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04672" y="3986784"/>
            <a:ext cx="566928" cy="566928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4128516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99616" y="400507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대시보드 기획 &amp; 제작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04672" y="4608576"/>
            <a:ext cx="5340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지표(KPI) 선정 → 화면 레이아웃 기획 → 차트·필터 구성 → AI로 대시보드 시안 생성. 분석을 '운영 도구'로 전환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784848" y="1517904"/>
            <a:ext cx="48582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프로젝트 산출물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784848" y="1938528"/>
            <a:ext cx="4858207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7004304" y="2157984"/>
            <a:ext cx="420624" cy="420624"/>
          </a:xfrm>
          <a:prstGeom prst="ellipse">
            <a:avLst/>
          </a:prstGeom>
          <a:solidFill>
            <a:srgbClr val="1496A6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2263140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552944" y="2011680"/>
            <a:ext cx="390723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용접 품질 예측 모델 + 성능 리포트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84848" y="2889504"/>
            <a:ext cx="4858207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7004304" y="3108960"/>
            <a:ext cx="420624" cy="420624"/>
          </a:xfrm>
          <a:prstGeom prst="ellipse">
            <a:avLst/>
          </a:prstGeom>
          <a:solidFill>
            <a:srgbClr val="1496A6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3214116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52944" y="2962656"/>
            <a:ext cx="390723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리뷰 분석 &amp; 개선 제안 리포트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784848" y="3840480"/>
            <a:ext cx="4858207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7004304" y="4059936"/>
            <a:ext cx="420624" cy="420624"/>
          </a:xfrm>
          <a:prstGeom prst="ellipse">
            <a:avLst/>
          </a:prstGeom>
          <a:solidFill>
            <a:srgbClr val="1496A6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4165092"/>
            <a:ext cx="210312" cy="2103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52944" y="3913632"/>
            <a:ext cx="390723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지식맵 · 발표 자료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784848" y="4791456"/>
            <a:ext cx="4858207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1"/>
          <p:cNvSpPr/>
          <p:nvPr/>
        </p:nvSpPr>
        <p:spPr>
          <a:xfrm>
            <a:off x="7004304" y="5010912"/>
            <a:ext cx="420624" cy="420624"/>
          </a:xfrm>
          <a:prstGeom prst="ellipse">
            <a:avLst/>
          </a:prstGeom>
          <a:solidFill>
            <a:srgbClr val="1496A6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5116068"/>
            <a:ext cx="210312" cy="2103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552944" y="4864608"/>
            <a:ext cx="390723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운영용 앱 대시보드 기획안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WRAP-UP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정리 — 6시간의 여정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650949" cy="173736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72363" y="1828800"/>
            <a:ext cx="603504" cy="603504"/>
          </a:xfrm>
          <a:prstGeom prst="ellipse">
            <a:avLst/>
          </a:prstGeom>
          <a:solidFill>
            <a:srgbClr val="1C4E8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239" y="197967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23744"/>
            <a:ext cx="14680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792" y="2816352"/>
            <a:ext cx="15046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AX·데이터 문해력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37333" y="1572768"/>
            <a:ext cx="1650949" cy="173736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961056" y="1828800"/>
            <a:ext cx="603504" cy="603504"/>
          </a:xfrm>
          <a:prstGeom prst="ellipse">
            <a:avLst/>
          </a:prstGeom>
          <a:solidFill>
            <a:srgbClr val="1496A6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932" y="197967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28773" y="2523744"/>
            <a:ext cx="14680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510485" y="2816352"/>
            <a:ext cx="15046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Colab·프롬프트(PTCF)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326026" y="1572768"/>
            <a:ext cx="1650949" cy="173736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4849749" y="1828800"/>
            <a:ext cx="603504" cy="603504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197967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17466" y="2523744"/>
            <a:ext cx="14680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399178" y="2816352"/>
            <a:ext cx="15046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정제·통계·시각화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214720" y="1572768"/>
            <a:ext cx="1650949" cy="173736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6738442" y="1828800"/>
            <a:ext cx="603504" cy="603504"/>
          </a:xfrm>
          <a:prstGeom prst="ellipse">
            <a:avLst/>
          </a:prstGeom>
          <a:solidFill>
            <a:srgbClr val="1C4E8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9318" y="197967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6160" y="2523744"/>
            <a:ext cx="14680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4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287872" y="2816352"/>
            <a:ext cx="15046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리뷰 분석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8103413" y="1572768"/>
            <a:ext cx="1650949" cy="173736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8627135" y="1828800"/>
            <a:ext cx="603504" cy="603504"/>
          </a:xfrm>
          <a:prstGeom prst="ellipse">
            <a:avLst/>
          </a:prstGeom>
          <a:solidFill>
            <a:srgbClr val="1496A6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011" y="197967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94853" y="2523744"/>
            <a:ext cx="14680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M5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176565" y="2816352"/>
            <a:ext cx="15046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용접 품질 예측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9992106" y="1572768"/>
            <a:ext cx="1650949" cy="173736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10515829" y="1828800"/>
            <a:ext cx="603504" cy="603504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6705" y="1979676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083546" y="2523744"/>
            <a:ext cx="14680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10065258" y="2816352"/>
            <a:ext cx="15046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A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시각화·프로젝트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548640" y="3566160"/>
            <a:ext cx="11094415" cy="2157984"/>
          </a:xfrm>
          <a:prstGeom prst="roundRect">
            <a:avLst>
              <a:gd name="adj" fmla="val 3814"/>
            </a:avLst>
          </a:prstGeom>
          <a:solidFill>
            <a:srgbClr val="0C1E3C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7"/>
          <p:cNvSpPr/>
          <p:nvPr/>
        </p:nvSpPr>
        <p:spPr>
          <a:xfrm>
            <a:off x="877824" y="3767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과정을 마치면 할 수 있는 것</a:t>
            </a:r>
            <a:endParaRPr lang="en-US" sz="16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" y="4242816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07008" y="4224528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7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Colab+Gemini로 분석 코드를 직접 생성·실행</a:t>
            </a:r>
            <a:endParaRPr lang="en-US" sz="11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8728" y="4242816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607912" y="4224528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7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PTCF 원칙으로 원하는 결과를 정확히 요청</a:t>
            </a:r>
            <a:endParaRPr lang="en-US" sz="11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" y="4718304"/>
            <a:ext cx="237744" cy="23774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1207008" y="4700016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7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표·웹 데이터를 정형화하고 통계로 해석</a:t>
            </a:r>
            <a:endParaRPr lang="en-US" sz="11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8728" y="4718304"/>
            <a:ext cx="237744" cy="23774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607912" y="4700016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7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리뷰에서 페인포인트를 도출해 리포트 작성</a:t>
            </a:r>
            <a:endParaRPr lang="en-US" sz="110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" y="5193792"/>
            <a:ext cx="237744" cy="237744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1207008" y="5175504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7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데이터로 품질 예측 모델을 만들고 검증</a:t>
            </a:r>
            <a:endParaRPr lang="en-US" sz="11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8728" y="5193792"/>
            <a:ext cx="237744" cy="237744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607912" y="5175504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7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결과를 리포트·대시보드·지식맵으로 전달</a:t>
            </a:r>
            <a:endParaRPr lang="en-US" sz="1100" dirty="0"/>
          </a:p>
        </p:txBody>
      </p:sp>
      <p:sp>
        <p:nvSpPr>
          <p:cNvPr id="48" name="Text 3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49" name="Text 3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4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적용 가이드 &amp; 다음 단계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업무에 바로 적용하기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585216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86384" y="2157984"/>
            <a:ext cx="457200" cy="457200"/>
          </a:xfrm>
          <a:prstGeom prst="ellipse">
            <a:avLst/>
          </a:prstGeom>
          <a:solidFill>
            <a:srgbClr val="1C4E8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272284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0482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데이터로 정의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71600" y="23774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고민을 '어떤 데이터로 풀 수 있나'로 바꾸기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907792"/>
            <a:ext cx="585216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3127248"/>
            <a:ext cx="457200" cy="457200"/>
          </a:xfrm>
          <a:prstGeom prst="ellipse">
            <a:avLst/>
          </a:prstGeom>
          <a:solidFill>
            <a:srgbClr val="1496A6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24154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30175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데이터부터 시작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371600" y="33467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엑셀·리뷰 한 파일로 첫 분석 시도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877056"/>
            <a:ext cx="585216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786384" y="4096512"/>
            <a:ext cx="457200" cy="457200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" y="4210812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98678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분석 파트너로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371600" y="43159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PTCF로 코드·해석·리포트를 함께 만들기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846320"/>
            <a:ext cx="585216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786384" y="5065776"/>
            <a:ext cx="457200" cy="457200"/>
          </a:xfrm>
          <a:prstGeom prst="ellipse">
            <a:avLst/>
          </a:prstGeom>
          <a:solidFill>
            <a:srgbClr val="0C1E3C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" y="518007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49560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최종 검증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371600" y="52852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결과는 현장 맥락으로 반드시 확인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784848" y="1572768"/>
            <a:ext cx="4858207" cy="4151376"/>
          </a:xfrm>
          <a:prstGeom prst="roundRect">
            <a:avLst>
              <a:gd name="adj" fmla="val 1982"/>
            </a:avLst>
          </a:prstGeom>
          <a:solidFill>
            <a:srgbClr val="0C1E3C"/>
          </a:solidFill>
          <a:ln/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7077456" y="1828800"/>
            <a:ext cx="603504" cy="603504"/>
          </a:xfrm>
          <a:prstGeom prst="ellipse">
            <a:avLst/>
          </a:prstGeom>
          <a:solidFill>
            <a:srgbClr val="2DD4B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8332" y="1979676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808976" y="1865376"/>
            <a:ext cx="36694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학습 로드맵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7095744" y="2688336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3"/>
          <p:cNvSpPr/>
          <p:nvPr/>
        </p:nvSpPr>
        <p:spPr>
          <a:xfrm>
            <a:off x="7351776" y="2578608"/>
            <a:ext cx="4035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/ 시각화 심화  </a:t>
            </a:r>
            <a:r>
              <a:rPr lang="en-US" sz="1050" dirty="0">
                <a:solidFill>
                  <a:srgbClr val="B9CC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 · plotly로 표현력 확장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7095744" y="32918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/>
          <p:nvPr/>
        </p:nvSpPr>
        <p:spPr>
          <a:xfrm>
            <a:off x="7351776" y="3182112"/>
            <a:ext cx="4035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기초  </a:t>
            </a:r>
            <a:r>
              <a:rPr lang="en-US" sz="1050" dirty="0">
                <a:solidFill>
                  <a:srgbClr val="B9CC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분류·회귀·평가 지표 더 깊이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7095744" y="389534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/>
          <p:nvPr/>
        </p:nvSpPr>
        <p:spPr>
          <a:xfrm>
            <a:off x="7351776" y="3785616"/>
            <a:ext cx="4035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시계열·예지보전  </a:t>
            </a:r>
            <a:r>
              <a:rPr lang="en-US" sz="1050" dirty="0">
                <a:solidFill>
                  <a:srgbClr val="B9CC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센서 데이터 예측 분석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7095744" y="449884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/>
          <p:nvPr/>
        </p:nvSpPr>
        <p:spPr>
          <a:xfrm>
            <a:off x="7351776" y="4389120"/>
            <a:ext cx="4035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 대시보드  </a:t>
            </a:r>
            <a:r>
              <a:rPr lang="en-US" sz="1050" dirty="0">
                <a:solidFill>
                  <a:srgbClr val="B9CC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Looker Studio·Power BI 실무화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7095744" y="5102352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1"/>
          <p:cNvSpPr/>
          <p:nvPr/>
        </p:nvSpPr>
        <p:spPr>
          <a:xfrm>
            <a:off x="7351776" y="4992624"/>
            <a:ext cx="4035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협업 워크플로우  </a:t>
            </a:r>
            <a:r>
              <a:rPr lang="en-US" sz="1050" dirty="0">
                <a:solidFill>
                  <a:srgbClr val="B9CC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자동화(n8n)·에이전트로 확장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 ·  울산 중소기업 현장연계 전문인력 양성과정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937760" cy="4937760"/>
          </a:xfrm>
          <a:prstGeom prst="ellipse">
            <a:avLst/>
          </a:prstGeom>
          <a:solidFill>
            <a:srgbClr val="1C4E80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496A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22960" cy="822960"/>
          </a:xfrm>
          <a:prstGeom prst="ellipse">
            <a:avLst/>
          </a:prstGeom>
          <a:solidFill>
            <a:srgbClr val="2DD4B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0345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48640" y="3877056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데이터는 '읽는 것'이 아니라 '함께 만드는 것'입니다.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DA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파트너 삼아, 현장의 질문을 데이터로 풀어보세요.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212080"/>
            <a:ext cx="3840480" cy="0"/>
          </a:xfrm>
          <a:prstGeom prst="line">
            <a:avLst/>
          </a:prstGeom>
          <a:noFill/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48640" y="5358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   </a:t>
            </a:r>
            <a:r>
              <a:rPr lang="en-US" sz="1200" dirty="0">
                <a:solidFill>
                  <a:srgbClr val="8FA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생성형 AI 활용 데이터 분석  ·  울산 중소기업 현장연계 전문인력 양성과정</a:t>
            </a:r>
            <a:endParaRPr lang="en-US" sz="1500" dirty="0"/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AE8CF9C5-01D0-AFEA-C58C-5020A38535C8}"/>
              </a:ext>
            </a:extLst>
          </p:cNvPr>
          <p:cNvSpPr/>
          <p:nvPr/>
        </p:nvSpPr>
        <p:spPr>
          <a:xfrm>
            <a:off x="548640" y="61081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8FA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</a:t>
            </a:r>
            <a:r>
              <a:rPr lang="en-US" sz="1200" dirty="0">
                <a:solidFill>
                  <a:srgbClr val="8FA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Ph.D. 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이애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aebon@hs.ac.kr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sz="1150" dirty="0">
                <a:solidFill>
                  <a:srgbClr val="8FA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DreamIT Biz · 한신대학교 AI·SW대학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4215</Words>
  <Application>Microsoft Macintosh PowerPoint</Application>
  <PresentationFormat>와이드스크린</PresentationFormat>
  <Paragraphs>619</Paragraphs>
  <Slides>31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활용 데이터 분석 — 울산 중소기업 전문인력 양성과정</dc:title>
  <dc:subject>PptxGenJS Presentation</dc:subject>
  <dc:creator>애본 (DreamIT Biz)</dc:creator>
  <cp:lastModifiedBy>이애본</cp:lastModifiedBy>
  <cp:revision>3</cp:revision>
  <dcterms:created xsi:type="dcterms:W3CDTF">2026-06-22T10:08:53Z</dcterms:created>
  <dcterms:modified xsi:type="dcterms:W3CDTF">2026-06-22T10:19:05Z</dcterms:modified>
</cp:coreProperties>
</file>