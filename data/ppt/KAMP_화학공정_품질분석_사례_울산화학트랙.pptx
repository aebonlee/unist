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Malgun Gothic"/>
              </a:rPr>
              <a:t>수율(%) 구간별 배치 분포 (예시)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배치 수</c:v>
                </c:pt>
              </c:strCache>
            </c:strRef>
          </c:tx>
          <c:spPr>
            <a:solidFill>
              <a:srgbClr val="1F9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~75</c:v>
                  </c:pt>
                  <c:pt idx="1">
                    <c:v>76-80</c:v>
                  </c:pt>
                  <c:pt idx="2">
                    <c:v>81-85</c:v>
                  </c:pt>
                  <c:pt idx="3">
                    <c:v>86-90</c:v>
                  </c:pt>
                  <c:pt idx="4">
                    <c:v>91-95</c:v>
                  </c:pt>
                  <c:pt idx="5">
                    <c:v>96~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11</c:v>
                </c:pt>
                <c:pt idx="2">
                  <c:v>9</c:v>
                </c:pt>
                <c:pt idx="3">
                  <c:v>14</c:v>
                </c:pt>
                <c:pt idx="4">
                  <c:v>22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3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수율과의 상관(절댓값, 예시)</c:v>
                </c:pt>
              </c:strCache>
            </c:strRef>
          </c:tx>
          <c:spPr>
            <a:solidFill>
              <a:srgbClr val="1F9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C2B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반응온도</c:v>
                  </c:pt>
                  <c:pt idx="1">
                    <c:v>체류시간</c:v>
                  </c:pt>
                  <c:pt idx="2">
                    <c:v>pH</c:v>
                  </c:pt>
                  <c:pt idx="3">
                    <c:v>촉매량</c:v>
                  </c:pt>
                  <c:pt idx="4">
                    <c:v>원료농도</c:v>
                  </c:pt>
                  <c:pt idx="5">
                    <c:v>압력</c:v>
                  </c:pt>
                  <c:pt idx="6">
                    <c:v>교반속도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0.68</c:v>
                </c:pt>
                <c:pt idx="1">
                  <c:v>0.61</c:v>
                </c:pt>
                <c:pt idx="2">
                  <c:v>0.55</c:v>
                </c:pt>
                <c:pt idx="3">
                  <c:v>0.47</c:v>
                </c:pt>
                <c:pt idx="4">
                  <c:v>0.39</c:v>
                </c:pt>
                <c:pt idx="5">
                  <c:v>0.3</c:v>
                </c:pt>
                <c:pt idx="6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C2B3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6시간 강의안의 모듈5(제조 공정 품질 데이터 분석)는 용접 사례로 구성됨. 본 부교재는 화학 담당 트랙을 위해 동일한 분석 워크플로우를 화학 공정에 적용한 사례. 용접↔화학만 바뀌고 방법론은 동일함을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울산 학습자 공감 포인트: 우리 지역 핵심이 화학이다. KAMP에 실제 화학 데이터가 있어 '진짜 데이터'로 실습 가능. 메인 강의 흐름과 100% 호환됨을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명세서를 먼저 보는 습관이 핵심. 변수 단위·정상범위를 모르면 이상치/전처리 판단이 불가. 실제 데이터셋명은 KAMP에서 최신으로 확인하도록 안내(목록이 수시 갱신됨).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기업 시나리오로 몰입 유도. '같은 레시피인데 수율이 다르다'는 화학 현장의 흔한 페인포인트. 데이터 구조(입력→출력)를 표로 직관화. 실제 KAMP 데이터로 치환해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 명세 = 도메인 지식과 데이터의 연결. 화학 담당자의 강점(공정 이해)이 발휘되는 지점. 각 변수가 품질에 '왜' 영향 주는지 현업 언어로 설명하면 학습효과 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강의와의 연속성을 시각적으로 못박는 슬라이드. 각 STEP이 뒤 슬라이드와 1:1 대응됨을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화학 데이터 특유의 이상치(센서 드리프트, 배치 중단)를 도메인 지식으로 걸러야 함. 라벨 정의(양품 기준)는 현업과 합의가 필요한 의사결정임을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기초통계로 '문제(변동)가 실재함'을 정량 확인. 평균만 보지 말고 산포(표준편차)를 함께 보는 습관. 다음 슬라이드 상관분석으로 '원인 변수' 추적.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 검증의 묘미: 데이터가 가리키는 변수(온도/체류/ pH)가 화학적 직관과 맞는지 따져봄. 화학 담당자의 전문성이 데이터 해석을 살리는 순간. 상관≠인과 재강조.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머신러닝 깊이보다 '사이클(분리→학습→검증)'과 '재현율의 중요성'을 전달. 화학 불량은 비용·안전 직결 → 불량을 놓치는 것(재현율 저하)이 더 위험함을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분석의 종착점=행동 가능한 결론. 추상적 '데이터가 중요'가 아니라 '78~82℃로 관리하라'는 구체 지시. 화학 현장의 SPC(통계적 공정관리) 개념과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강의 모듈6(NotebookLM·리포트·대시보드)와 직결. 화학 사례의 결과물도 동일 도구로 마무리되어 과정 전체가 하나로 이어짐을 보여줌.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화학 트랙만의 추가 강조점: ① 영업비밀(레시피) ② 안전 오용 금지(품질≠안전판단) ③ 검증 후 적용 ④ 추적성. PSM·규제 환경을 아는 화학 담당자가 가장 잘 가르칠 수 있는 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강사용 운영 가이드. 60분 배분과 실습 미션을 그대로 활용 가능. 학습자가 자기 회사 데이터로 확장하도록 유도하는 것이 전이학습의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마무리 메시지: 방법론은 도메인 불문 동일, 도메인 전문성+데이터 분석의 결합이 가장 강력. KAMP 링크로 자기주도 실습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6314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291840" cy="3291840"/>
          </a:xfrm>
          <a:prstGeom prst="ellipse">
            <a:avLst/>
          </a:prstGeom>
          <a:solidFill>
            <a:srgbClr val="1F9E7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0E8C9A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777240"/>
            <a:ext cx="914400" cy="91440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6" name="Image 0" descr="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014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868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 중소기업 현장연계 전문인력 양성과정 · 화학 트랙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65960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데이터 분석 · 실습 사례집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데이터로 배우는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공정 품질 분석 사례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반응·배합 공정 변수에서 수율을 예측하고 최적 운전조건을 찾는 전 과정 워크스루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5212080"/>
            <a:ext cx="3104388" cy="502920"/>
          </a:xfrm>
          <a:prstGeom prst="roundRect">
            <a:avLst>
              <a:gd name="adj" fmla="val 49091"/>
            </a:avLst>
          </a:prstGeom>
          <a:solidFill>
            <a:srgbClr val="16314C"/>
          </a:solidFill>
          <a:ln/>
        </p:spPr>
      </p:sp>
      <p:pic>
        <p:nvPicPr>
          <p:cNvPr id="12" name="Image 1" descr="icons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53400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212080"/>
            <a:ext cx="26014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kamp-ai.kr 실데이터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47388" y="5212080"/>
            <a:ext cx="2350008" cy="502920"/>
          </a:xfrm>
          <a:prstGeom prst="roundRect">
            <a:avLst>
              <a:gd name="adj" fmla="val 49091"/>
            </a:avLst>
          </a:prstGeom>
          <a:solidFill>
            <a:srgbClr val="16314C"/>
          </a:solidFill>
          <a:ln/>
        </p:spPr>
      </p:sp>
      <p:pic>
        <p:nvPicPr>
          <p:cNvPr id="15" name="Image 2" descr="icons/flas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53400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4588" y="52120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공정 시나리오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25996" y="5212080"/>
            <a:ext cx="2199132" cy="502920"/>
          </a:xfrm>
          <a:prstGeom prst="roundRect">
            <a:avLst>
              <a:gd name="adj" fmla="val 49091"/>
            </a:avLst>
          </a:prstGeom>
          <a:solidFill>
            <a:srgbClr val="16314C"/>
          </a:solidFill>
          <a:ln/>
        </p:spPr>
      </p:sp>
      <p:pic>
        <p:nvPicPr>
          <p:cNvPr id="18" name="Image 3" descr="icons/chartlin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5340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83196" y="5212080"/>
            <a:ext cx="16962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예측·최적화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DreamIT Biz · 강사 애본(Aebon)  |  메인 강의안 모듈 5 화학 버전 부교재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THIS CASE · 사례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‘화학 공정’ 사례인가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41985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39112"/>
            <a:ext cx="777240" cy="7772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6" name="Image 0" descr="icons/mapmark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62" y="2241194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90088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 = 화학 중점산업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7280" y="347472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지역 AI 사업에서 울산의 중점산업은 화학. 석유화학·정밀화학 현장의 공정 데이터 분석 수요가 큼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425696" y="1691640"/>
            <a:ext cx="341985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5736" y="2039112"/>
            <a:ext cx="777240" cy="77724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818" y="2241194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5736" y="2990088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KAMP에 화학 데이터 존재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45736" y="347472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49종 중 화학·표면처리(도금) 등 화학 계열 공정 데이터셋 제공. 변수 명세·가이드북 포함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074152" y="1691640"/>
            <a:ext cx="341985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039112"/>
            <a:ext cx="777240" cy="777240"/>
          </a:xfrm>
          <a:prstGeom prst="ellipse">
            <a:avLst/>
          </a:prstGeom>
          <a:solidFill>
            <a:srgbClr val="1FB6C9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6" name="Image 2" descr="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274" y="224119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990088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용접과 ‘방법론이 동일’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94192" y="347472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모듈5의 용접 분석과 워크플로우가 같음 — 변수↔품질 상관, 예측 모델, 최적조건 도출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777240" y="4370832"/>
            <a:ext cx="10634472" cy="1737360"/>
          </a:xfrm>
          <a:prstGeom prst="roundRect">
            <a:avLst>
              <a:gd name="adj" fmla="val 5263"/>
            </a:avLst>
          </a:prstGeom>
          <a:solidFill>
            <a:srgbClr val="0F254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4617720"/>
            <a:ext cx="777240" cy="7772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1" name="Image 3" descr="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642" y="48198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1168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사례의 목표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011680" y="502920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공정의 운전 변수(온도·압력·pH·농도·체류시간 등)와 제품 품질(수율·불량) 사이의 관계를 코드 없이 생성형 AI로 분석하고, ‘어떤 조건일 때 품질이 좋아지는가’를 데이터로 답하는 1회 완결형 실습 사례를 제공합니다.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 · 데이터 확보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KAMP에서 화학 공정 데이터 찾기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실습은 ‘데이터를 구하는 것’에서 시작합니다. KAMP 접근 경로와 데이터셋 구성요소를 먼저 익힙니다.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경로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3591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kamp-ai.kr 접속 · 무료 회원가입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63040" y="26883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구글/이메일로 가입 후 로그인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1051560" y="2852928"/>
            <a:ext cx="0" cy="310896"/>
          </a:xfrm>
          <a:prstGeom prst="line">
            <a:avLst/>
          </a:prstGeom>
          <a:noFill/>
          <a:ln w="19050">
            <a:solidFill>
              <a:srgbClr val="1F9E7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822960" y="3163824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145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‘제조 AI 데이터셋’ 카탈로그 탐색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63040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메뉴 → 데이터셋 목록 진입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1051560" y="3639312"/>
            <a:ext cx="0" cy="310896"/>
          </a:xfrm>
          <a:prstGeom prst="line">
            <a:avLst/>
          </a:prstGeom>
          <a:noFill/>
          <a:ln w="19050">
            <a:solidFill>
              <a:srgbClr val="1F9E78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822960" y="3950208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필터: 화학 · 표면처리(도금)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463040" y="42611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업종/공정으로 검색해 후보 선별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1051560" y="4425696"/>
            <a:ext cx="0" cy="310896"/>
          </a:xfrm>
          <a:prstGeom prst="line">
            <a:avLst/>
          </a:prstGeom>
          <a:noFill/>
          <a:ln w="19050">
            <a:solidFill>
              <a:srgbClr val="1F9E78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63040" y="47183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상세페이지에서 명세서·가이드북 확인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463040" y="50474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의미·단위·정상범위 점검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1051560" y="5212080"/>
            <a:ext cx="0" cy="310896"/>
          </a:xfrm>
          <a:prstGeom prst="line">
            <a:avLst/>
          </a:prstGeom>
          <a:noFill/>
          <a:ln w="19050">
            <a:solidFill>
              <a:srgbClr val="1F9E78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822960" y="5522976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463040" y="55046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 데이터 다운로드 → Colab 업로드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463040" y="5833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CSV를 드라이브에 저장 후 분석 시작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903720" y="1874520"/>
            <a:ext cx="4507992" cy="3246120"/>
          </a:xfrm>
          <a:prstGeom prst="roundRect">
            <a:avLst>
              <a:gd name="adj" fmla="val 2817"/>
            </a:avLst>
          </a:prstGeom>
          <a:solidFill>
            <a:srgbClr val="E6F5EF"/>
          </a:solidFill>
          <a:ln w="12700">
            <a:solidFill>
              <a:srgbClr val="1F9E7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7804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데이터셋 구성요소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7269480" y="251460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데이터 — 현장 수집 원본 그대로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 데이터 — 정제·표준화된 CSV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명세서 — 변수·단위·정상범위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가이드북 — 분석 목적·주의사항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알고리즘 — 따라 할 수 있는 코드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903720" y="5257800"/>
            <a:ext cx="4507992" cy="777240"/>
          </a:xfrm>
          <a:prstGeom prst="roundRect">
            <a:avLst>
              <a:gd name="adj" fmla="val 9412"/>
            </a:avLst>
          </a:prstGeom>
          <a:solidFill>
            <a:srgbClr val="FCF1E0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86600" y="5257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A63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팁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52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명세서의 ‘정상범위’는 이상치 판단 기준이 되니 분석 전 꼭 캡처해 두세요.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SCENARIO · 문제 정의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시나리오 — ‘한빛케미칼’ 반응공정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5285232" cy="4572000"/>
          </a:xfrm>
          <a:prstGeom prst="roundRect">
            <a:avLst>
              <a:gd name="adj" fmla="val 2000"/>
            </a:avLst>
          </a:prstGeom>
          <a:solidFill>
            <a:srgbClr val="0F2540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울산의 중소 정밀화학 기업 ‘한빛케미칼’(가상)은 배치(batch) 반응공정에서 제품 수율이 배치마다 들쭉날쭉합니다. 같은 레시피인데 어떤 날은 92%, 어떤 날은 78%.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15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37947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수율을 좌우하는 변수는 무엇인가?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배치를 미리 예측할 수 있는가?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수율이 가장 높은 운전조건 구간은?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146304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56832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가진 데이터 (배치 로그)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2103120"/>
          <a:ext cx="44805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40080"/>
                <a:gridCol w="548640"/>
                <a:gridCol w="960120"/>
                <a:gridCol w="68580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배치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온도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체류(min)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수율%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B-001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7257"/>
                          </a:solidFill>
                        </a:rPr>
                        <a:t>양품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B-002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53C"/>
                          </a:solidFill>
                        </a:rPr>
                        <a:t>불량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B-003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27257"/>
                          </a:solidFill>
                        </a:rPr>
                        <a:t>양품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B-004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453C"/>
                          </a:solidFill>
                        </a:rPr>
                        <a:t>불량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…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656832" y="4343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변수(운전조건) → 출력(수율·판정) 구조. 행=배치 1회, 열=변수.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656832" y="489204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12700">
            <a:solidFill>
              <a:srgbClr val="1F9E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39712" y="4892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유형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 — 분류(양품/불량) + 회귀(수율 예측) 모두 가능한 전형적 품질 데이터.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데이터 이해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변수 명세 — 무엇을 측정했나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전에 각 변수가 ‘무엇이고 정상범위가 어디인지’를 이해해야 이상치·전처리 판단이 가능합니다.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5330952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의미 / 품질 영향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정상범위(예시)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반응 온도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℃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반응 속도·평형을 좌우하는 1차 변수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70–85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반응 압력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bar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기상 반응의 전환율에 영향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2.0–4.0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pH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촉매 활성·부반응 억제의 핵심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6.5–7.5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원료 농도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투입 농도가 수율·점도에 영향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15–25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촉매 투입량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kg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반응 효율을 결정, 과다 시 부반응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3–6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교반 속도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rpm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혼합 균일도·열전달에 영향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150–250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</a:rPr>
                        <a:t>체류 시간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반응 완결도를 좌우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9A"/>
                          </a:solidFill>
                        </a:rPr>
                        <a:t>35–50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7257"/>
                          </a:solidFill>
                        </a:rPr>
                        <a:t>수율(목표)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9"/>
                          </a:solidFill>
                        </a:rPr>
                        <a:t>제품 산출 비율 — 예측 대상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7257"/>
                          </a:solidFill>
                        </a:rPr>
                        <a:t>≥ 90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변수명·범위는 학습용 예시입니다. 실제 분석 시 KAMP 데이터셋 명세서의 값으로 교체하세요.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· 분석 설계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사례의 분석 워크플로우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강의의 4단계 워크플로우(수집→전처리→분석→인사이트)를 화학 사례에 그대로 적용합니다.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0116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81912" y="2331720"/>
            <a:ext cx="1005840" cy="100584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0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25877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4747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8C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60120" y="37490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05840" y="4169664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화학 데이터 다운로드 → Colab 업로드</a:t>
            </a:r>
            <a:endParaRPr lang="en-US" sz="1080" dirty="0"/>
          </a:p>
        </p:txBody>
      </p:sp>
      <p:pic>
        <p:nvPicPr>
          <p:cNvPr id="14" name="Image 2" descr="icons/arrowrigh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246120"/>
            <a:ext cx="292608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616452" y="20116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21124" y="2331720"/>
            <a:ext cx="1005840" cy="1005840"/>
          </a:xfrm>
          <a:prstGeom prst="ellipse">
            <a:avLst/>
          </a:prstGeom>
          <a:solidFill>
            <a:srgbClr val="1FB6C9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7" name="Image 3" descr="icons/wre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58775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99332" y="34747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799332" y="37490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3845052" y="4169664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결측·이상치·단위 정리, 양품/불량 라벨 정의</a:t>
            </a:r>
            <a:endParaRPr lang="en-US" sz="1080" dirty="0"/>
          </a:p>
        </p:txBody>
      </p:sp>
      <p:pic>
        <p:nvPicPr>
          <p:cNvPr id="21" name="Image 4" descr="icons/arrowrigh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2" y="3246120"/>
            <a:ext cx="292608" cy="29260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55664" y="20116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260336" y="2331720"/>
            <a:ext cx="1005840" cy="10058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4" name="Image 5" descr="icons/chartb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587752"/>
            <a:ext cx="493776" cy="49377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38544" y="34747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638544" y="37490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6684264" y="4169664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기초통계·상관분석·예측 모델링</a:t>
            </a:r>
            <a:endParaRPr lang="en-US" sz="1080" dirty="0"/>
          </a:p>
        </p:txBody>
      </p:sp>
      <p:pic>
        <p:nvPicPr>
          <p:cNvPr id="28" name="Image 6" descr="icons/arrowrigh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5984" y="3246120"/>
            <a:ext cx="292608" cy="29260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294876" y="20116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10099548" y="2331720"/>
            <a:ext cx="1005840" cy="1005840"/>
          </a:xfrm>
          <a:prstGeom prst="ellipse">
            <a:avLst/>
          </a:prstGeom>
          <a:solidFill>
            <a:srgbClr val="F2A33C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1" name="Image 7" descr="icons/lightbulb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5580" y="2587752"/>
            <a:ext cx="493776" cy="49377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477756" y="34747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9477756" y="374904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</a:t>
            </a:r>
            <a:endParaRPr lang="en-US" sz="1800" dirty="0"/>
          </a:p>
        </p:txBody>
      </p:sp>
      <p:sp>
        <p:nvSpPr>
          <p:cNvPr id="34" name="Text 24"/>
          <p:cNvSpPr/>
          <p:nvPr/>
        </p:nvSpPr>
        <p:spPr>
          <a:xfrm>
            <a:off x="9523476" y="4169664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중요도 → 최적 운전조건·리포트</a:t>
            </a:r>
            <a:endParaRPr lang="en-US" sz="1080" dirty="0"/>
          </a:p>
        </p:txBody>
      </p:sp>
      <p:sp>
        <p:nvSpPr>
          <p:cNvPr id="35" name="Shape 25"/>
          <p:cNvSpPr/>
          <p:nvPr/>
        </p:nvSpPr>
        <p:spPr>
          <a:xfrm>
            <a:off x="777240" y="5074920"/>
            <a:ext cx="10634472" cy="960120"/>
          </a:xfrm>
          <a:prstGeom prst="roundRect">
            <a:avLst>
              <a:gd name="adj" fmla="val 9524"/>
            </a:avLst>
          </a:prstGeom>
          <a:solidFill>
            <a:srgbClr val="0F2540"/>
          </a:solidFill>
          <a:ln/>
        </p:spPr>
      </p:sp>
      <p:sp>
        <p:nvSpPr>
          <p:cNvPr id="36" name="Text 26"/>
          <p:cNvSpPr/>
          <p:nvPr/>
        </p:nvSpPr>
        <p:spPr>
          <a:xfrm>
            <a:off x="1097280" y="507492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순서인가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결론은 깨끗한 데이터에서 나옵니다. 전처리를 건너뛰면 ‘이상치가 만든 가짜 상관’에 속기 쉽습니다. 단계를 지키는 것이 신뢰의 출발점입니다.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wre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전처리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정제와 이상치 처리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로그에는 센서 오류·결측·단위 혼재가 섞여 있습니다. 분석 가능한 형태로 다듬습니다.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52852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0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10312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확인·처리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2624328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누락 값을 확인하고 평균 대체 또는 해당 배치 제외 기준 설정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6309360" y="1874520"/>
            <a:ext cx="52852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1FB6C9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5" name="Image 2" descr="icons/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3317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210312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판단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29400" y="2624328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명세서 정상범위(예: pH 6.5–7.5)를 벗어난 값을 점검·보정</a:t>
            </a:r>
            <a:endParaRPr lang="en-US" sz="1130" dirty="0"/>
          </a:p>
        </p:txBody>
      </p:sp>
      <p:sp>
        <p:nvSpPr>
          <p:cNvPr id="18" name="Shape 13"/>
          <p:cNvSpPr/>
          <p:nvPr/>
        </p:nvSpPr>
        <p:spPr>
          <a:xfrm>
            <a:off x="777240" y="3474720"/>
            <a:ext cx="52852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51560" y="3749040"/>
            <a:ext cx="685800" cy="68580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0" name="Image 3" descr="icons/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9319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370332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정의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097280" y="4224528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‘수율 ≥ 90% = 양품, 미만 = 불량’ 등 분류 기준을 명확히 정의</a:t>
            </a:r>
            <a:endParaRPr lang="en-US" sz="1130" dirty="0"/>
          </a:p>
        </p:txBody>
      </p:sp>
      <p:sp>
        <p:nvSpPr>
          <p:cNvPr id="23" name="Shape 17"/>
          <p:cNvSpPr/>
          <p:nvPr/>
        </p:nvSpPr>
        <p:spPr>
          <a:xfrm>
            <a:off x="6309360" y="3474720"/>
            <a:ext cx="52852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3749040"/>
            <a:ext cx="685800" cy="68580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5" name="Image 4" descr="icons/tab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9319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370332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단위·형 정리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629400" y="4224528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숫자형 변환, 단위 통일, 열 이름 표준화(온도_℃ 등)</a:t>
            </a:r>
            <a:endParaRPr lang="en-US" sz="1130" dirty="0"/>
          </a:p>
        </p:txBody>
      </p:sp>
      <p:sp>
        <p:nvSpPr>
          <p:cNvPr id="28" name="Shape 21"/>
          <p:cNvSpPr/>
          <p:nvPr/>
        </p:nvSpPr>
        <p:spPr>
          <a:xfrm>
            <a:off x="777240" y="5029200"/>
            <a:ext cx="10634472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/>
        </p:spPr>
      </p:sp>
      <p:sp>
        <p:nvSpPr>
          <p:cNvPr id="29" name="Text 22"/>
          <p:cNvSpPr/>
          <p:nvPr/>
        </p:nvSpPr>
        <p:spPr>
          <a:xfrm>
            <a:off x="1051560" y="5138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프롬프트 (PTCF)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051560" y="54406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“너는 화학 공정 데이터 분석가야. 이 배치 데이터에서 pH가 6.5~7.5를 벗어난 행을 이상치로 표시하고, 결측은 변수별 평균으로 대체해줘. 수율 90% 이상은 ‘양품’, 미만은 ‘불량’ 열을 추가하는 pandas 코드를 한글 주석과 함께 작성해줘.”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chart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탐색 분석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분포와 기초 통계 파악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데이터에서 ‘수율이 보통 어느 수준이고 얼마나 흔들리는지’부터 확인합니다.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19202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1965960"/>
            <a:ext cx="43708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269480" y="207568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8C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86.4%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9326880" y="207568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수율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040880" y="3191256"/>
            <a:ext cx="43708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269480" y="330098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±6.1%p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9326880" y="330098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040880" y="4416552"/>
            <a:ext cx="43708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269480" y="45262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9326880" y="452628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불량률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040880" y="5650992"/>
            <a:ext cx="437083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— 평균은 86%지만 편차가 큼(±6%p). ‘들쭉날쭉’이 데이터로 확인됨 → 무엇이 이 변동을 만드는지가 다음 질문.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상관 분석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변수가 수율과 함께 움직이나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운전 변수와 수율의 상관을 계산해 ‘우선 관리해야 할 변수’를 가려냅니다.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196596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학습용 예시값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086600" y="1965960"/>
            <a:ext cx="4325112" cy="3931920"/>
          </a:xfrm>
          <a:prstGeom prst="roundRect">
            <a:avLst>
              <a:gd name="adj" fmla="val 2326"/>
            </a:avLst>
          </a:prstGeom>
          <a:solidFill>
            <a:srgbClr val="0F2540"/>
          </a:solidFill>
          <a:ln/>
        </p:spPr>
      </p:sp>
      <p:sp>
        <p:nvSpPr>
          <p:cNvPr id="11" name="Text 7"/>
          <p:cNvSpPr/>
          <p:nvPr/>
        </p:nvSpPr>
        <p:spPr>
          <a:xfrm>
            <a:off x="73609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06640" y="26060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반응온도·체류시간이 수율과 가장 강하게 연관 → 1순위 관리 변수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pH도 상위 → 촉매 활성과 직결되는 화학적 해석과 일치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DD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교반속도는 약함 → 현 범위에선 영향 적음(추가 검증 여지)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60920" y="5074920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1F9E78">
              <a:alpha val="2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360920" y="50749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상관관계 ≠ 인과관계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예측 모델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배치 예측 모델 만들기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변수로 ‘이 배치가 불량일지’를 예측하는 분류 모델을 만들고 성능을 검증합니다.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1901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249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입력(7개 변수)·정답(양품/불량)을 학습용 70% / 검증용 30%로 분리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22960" y="2898648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630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63040" y="32278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의사결정나무·랜덤포레스트 등 기본 분류 모델로 패턴 학습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63040" y="3858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예측·평가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4206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검증셋으로 예측 → 정확도·정밀도·재현율·혼동행렬 확인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F9E78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63040" y="48371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중요도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63040" y="5184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예측에 크게 기여한 변수 확인 → 현장 관리 포인트 도출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492240" y="1874520"/>
            <a:ext cx="49194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 (예시)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766560" y="2514600"/>
            <a:ext cx="1097280" cy="1463040"/>
          </a:xfrm>
          <a:prstGeom prst="roundRect">
            <a:avLst>
              <a:gd name="adj" fmla="val 6667"/>
            </a:avLst>
          </a:prstGeom>
          <a:solidFill>
            <a:srgbClr val="E6F5EF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766560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927848" y="2514600"/>
            <a:ext cx="1097280" cy="1463040"/>
          </a:xfrm>
          <a:prstGeom prst="roundRect">
            <a:avLst>
              <a:gd name="adj" fmla="val 6667"/>
            </a:avLst>
          </a:prstGeom>
          <a:solidFill>
            <a:srgbClr val="E6F5EF"/>
          </a:solidFill>
          <a:ln/>
        </p:spPr>
      </p:sp>
      <p:sp>
        <p:nvSpPr>
          <p:cNvPr id="30" name="Text 27"/>
          <p:cNvSpPr/>
          <p:nvPr/>
        </p:nvSpPr>
        <p:spPr>
          <a:xfrm>
            <a:off x="7927848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0.88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927848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089136" y="2514600"/>
            <a:ext cx="1097280" cy="1463040"/>
          </a:xfrm>
          <a:prstGeom prst="roundRect">
            <a:avLst>
              <a:gd name="adj" fmla="val 6667"/>
            </a:avLst>
          </a:prstGeom>
          <a:solidFill>
            <a:srgbClr val="E6F5EF"/>
          </a:solidFill>
          <a:ln/>
        </p:spPr>
      </p:sp>
      <p:sp>
        <p:nvSpPr>
          <p:cNvPr id="33" name="Text 30"/>
          <p:cNvSpPr/>
          <p:nvPr/>
        </p:nvSpPr>
        <p:spPr>
          <a:xfrm>
            <a:off x="9089136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0.84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089136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250424" y="2514600"/>
            <a:ext cx="1097280" cy="1463040"/>
          </a:xfrm>
          <a:prstGeom prst="roundRect">
            <a:avLst>
              <a:gd name="adj" fmla="val 6667"/>
            </a:avLst>
          </a:prstGeom>
          <a:solidFill>
            <a:srgbClr val="E6F5EF"/>
          </a:solidFill>
          <a:ln/>
        </p:spPr>
      </p:sp>
      <p:sp>
        <p:nvSpPr>
          <p:cNvPr id="36" name="Text 33"/>
          <p:cNvSpPr/>
          <p:nvPr/>
        </p:nvSpPr>
        <p:spPr>
          <a:xfrm>
            <a:off x="10250424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0250424" y="3383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92240" y="4343400"/>
            <a:ext cx="4919472" cy="1691640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12700">
            <a:solidFill>
              <a:srgbClr val="F2A33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720840" y="4553712"/>
            <a:ext cx="594360" cy="594360"/>
          </a:xfrm>
          <a:prstGeom prst="ellipse">
            <a:avLst/>
          </a:prstGeom>
          <a:solidFill>
            <a:srgbClr val="F2A33C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40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4718304"/>
            <a:ext cx="265176" cy="26517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406640" y="4562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3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함정 주의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6720840" y="49377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52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불량이 드물면 ‘전부 양품’이라 찍어도 정확도가 높게 나옵니다. 불량을 놓치지 않는 재현율과 혼동행렬을 반드시 함께 보세요.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인사이트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최적 운전조건 도출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‘현장이 바로 쓰는 운전 가이드’로 번역합니다. 데이터가 가리키는 최적 구간입니다.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341985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874520"/>
            <a:ext cx="3419856" cy="640080"/>
          </a:xfrm>
          <a:prstGeom prst="roundRect">
            <a:avLst>
              <a:gd name="adj" fmla="val 14286"/>
            </a:avLst>
          </a:prstGeom>
          <a:solidFill>
            <a:srgbClr val="0E8C9A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194560"/>
            <a:ext cx="3419856" cy="320040"/>
          </a:xfrm>
          <a:prstGeom prst="rect">
            <a:avLst/>
          </a:prstGeom>
          <a:solidFill>
            <a:srgbClr val="0E8C9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874520"/>
            <a:ext cx="3419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온도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715768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– 82 ℃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51560" y="338328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구간에서 수율 평균 최고, 편차 최소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4425696" y="1874520"/>
            <a:ext cx="341985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25696" y="1874520"/>
            <a:ext cx="3419856" cy="640080"/>
          </a:xfrm>
          <a:prstGeom prst="roundRect">
            <a:avLst>
              <a:gd name="adj" fmla="val 14286"/>
            </a:avLst>
          </a:prstGeom>
          <a:solidFill>
            <a:srgbClr val="1FB6C9"/>
          </a:solidFill>
          <a:ln/>
        </p:spPr>
      </p:sp>
      <p:sp>
        <p:nvSpPr>
          <p:cNvPr id="16" name="Shape 13"/>
          <p:cNvSpPr/>
          <p:nvPr/>
        </p:nvSpPr>
        <p:spPr>
          <a:xfrm>
            <a:off x="4425696" y="2194560"/>
            <a:ext cx="3419856" cy="320040"/>
          </a:xfrm>
          <a:prstGeom prst="rect">
            <a:avLst/>
          </a:prstGeom>
          <a:solidFill>
            <a:srgbClr val="1FB6C9"/>
          </a:solidFill>
          <a:ln/>
        </p:spPr>
      </p:sp>
      <p:sp>
        <p:nvSpPr>
          <p:cNvPr id="17" name="Text 14"/>
          <p:cNvSpPr/>
          <p:nvPr/>
        </p:nvSpPr>
        <p:spPr>
          <a:xfrm>
            <a:off x="4425696" y="1874520"/>
            <a:ext cx="3419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 시간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08576" y="2715768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– 46 min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00016" y="338328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미만이면 반응 미완결로 수율 급감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8074152" y="1874520"/>
            <a:ext cx="341985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74152" y="1874520"/>
            <a:ext cx="3419856" cy="640080"/>
          </a:xfrm>
          <a:prstGeom prst="roundRect">
            <a:avLst>
              <a:gd name="adj" fmla="val 14286"/>
            </a:avLst>
          </a:prstGeom>
          <a:solidFill>
            <a:srgbClr val="1F9E78"/>
          </a:solidFill>
          <a:ln/>
        </p:spPr>
      </p:sp>
      <p:sp>
        <p:nvSpPr>
          <p:cNvPr id="22" name="Shape 19"/>
          <p:cNvSpPr/>
          <p:nvPr/>
        </p:nvSpPr>
        <p:spPr>
          <a:xfrm>
            <a:off x="8074152" y="2194560"/>
            <a:ext cx="3419856" cy="320040"/>
          </a:xfrm>
          <a:prstGeom prst="rect">
            <a:avLst/>
          </a:prstGeom>
          <a:solidFill>
            <a:srgbClr val="1F9E78"/>
          </a:solidFill>
          <a:ln/>
        </p:spPr>
      </p:sp>
      <p:sp>
        <p:nvSpPr>
          <p:cNvPr id="23" name="Text 20"/>
          <p:cNvSpPr/>
          <p:nvPr/>
        </p:nvSpPr>
        <p:spPr>
          <a:xfrm>
            <a:off x="8074152" y="1874520"/>
            <a:ext cx="3419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57032" y="2715768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 – 7.2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348472" y="3383280"/>
            <a:ext cx="2871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촉매 활성 최적, 부반응 억제 구간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777240" y="4370832"/>
            <a:ext cx="10634472" cy="1691640"/>
          </a:xfrm>
          <a:prstGeom prst="roundRect">
            <a:avLst>
              <a:gd name="adj" fmla="val 5405"/>
            </a:avLst>
          </a:prstGeom>
          <a:solidFill>
            <a:srgbClr val="0F2540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1560" y="4617720"/>
            <a:ext cx="777240" cy="7772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8" name="Image 1" descr="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42" y="4819802"/>
            <a:ext cx="373075" cy="37307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011680" y="459028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액션 — “레시피가 아니라 운전조건을 관리하라”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2011680" y="502920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레시피라도 온도·체류·pH가 위 구간을 벗어나면 수율이 무너집니다. 이 3개 변수에 관리 한계선(관리도)을 걸고 실시간 모니터링하면, 불량 배치를 사전에 잡을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dash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산출물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시각화와 리포트·지식화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발표·공유 가능한 형태로 마무리합니다 — 리포트, 대시보드, 지식베이스.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10634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0" name="Image 1" descr="icons/fil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3957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12140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분석 리포트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394960" y="212140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Canvas로 현황·원인·최적조건·제안을 담은 1~2p 보고서 작성. 경영진용 요약 포함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777240" y="3337560"/>
            <a:ext cx="10634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3611880"/>
            <a:ext cx="731520" cy="73152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5" name="Image 2" descr="icons/dash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8130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353872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모니터링 대시보드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5394960" y="353872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온도·체류·pH 관리도와 수율 추이를 한 화면에. 불량 위험 배치 경고 설계</a:t>
            </a:r>
            <a:endParaRPr lang="en-US" sz="1230" dirty="0"/>
          </a:p>
        </p:txBody>
      </p:sp>
      <p:sp>
        <p:nvSpPr>
          <p:cNvPr id="18" name="Shape 13"/>
          <p:cNvSpPr/>
          <p:nvPr/>
        </p:nvSpPr>
        <p:spPr>
          <a:xfrm>
            <a:off x="777240" y="4754880"/>
            <a:ext cx="10634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51560" y="5029200"/>
            <a:ext cx="731520" cy="731520"/>
          </a:xfrm>
          <a:prstGeom prst="ellipse">
            <a:avLst/>
          </a:prstGeom>
          <a:solidFill>
            <a:srgbClr val="F2A33C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0" name="Image 3" descr="icons/boo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52303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57400" y="495604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지식화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5394960" y="495604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코드·리포트를 업로드해 근거 기반 Q&amp;A·마인드맵으로 사내 지식 자산화</a:t>
            </a:r>
            <a:endParaRPr lang="en-US" sz="1230" dirty="0"/>
          </a:p>
        </p:txBody>
      </p:sp>
      <p:sp>
        <p:nvSpPr>
          <p:cNvPr id="23" name="Text 17"/>
          <p:cNvSpPr/>
          <p:nvPr/>
        </p:nvSpPr>
        <p:spPr>
          <a:xfrm>
            <a:off x="77724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산출물 3종으로 ‘분석했다’가 아니라 ‘개선했다’까지 도달합니다.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CAUTION · 화학 데이터 윤리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공정 데이터의 특별한 주의점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데이터는 안전·기밀 민감도가 높습니다. 메인 강의의 윤리 원칙에 더해 화학 특수성을 짚습니다.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69848" y="2121408"/>
            <a:ext cx="777240" cy="777240"/>
          </a:xfrm>
          <a:prstGeom prst="ellipse">
            <a:avLst/>
          </a:prstGeom>
          <a:solidFill>
            <a:srgbClr val="F2A33C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0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234086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39112" y="219456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기밀 보호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097280" y="2852928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레시피·촉매·배합비는 핵심 영업비밀. 외부 AI에 원본 입력 금지, 익명화·범위화 후 사용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6309360" y="18288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01968" y="2121408"/>
            <a:ext cx="777240" cy="7772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5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340864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71232" y="219456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안전과 직결됨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629400" y="2852928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예측을 ‘안전 판단’으로 오용 금지. 모델은 보조 지표이며 공정안전(PSM) 기준이 우선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777240" y="3950208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69848" y="4242816"/>
            <a:ext cx="777240" cy="777240"/>
          </a:xfrm>
          <a:prstGeom prst="ellipse">
            <a:avLst/>
          </a:prstGeom>
          <a:solidFill>
            <a:srgbClr val="0E8C9A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0" name="Image 3" descr="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4462272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39112" y="431596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필수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097280" y="497433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제시한 최적조건은 반드시 소규모 검증·전문가 확인 후 적용. 환각·과적합 주의</a:t>
            </a:r>
            <a:endParaRPr lang="en-US" sz="1180" dirty="0"/>
          </a:p>
        </p:txBody>
      </p:sp>
      <p:sp>
        <p:nvSpPr>
          <p:cNvPr id="23" name="Shape 17"/>
          <p:cNvSpPr/>
          <p:nvPr/>
        </p:nvSpPr>
        <p:spPr>
          <a:xfrm>
            <a:off x="6309360" y="3950208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601968" y="4242816"/>
            <a:ext cx="777240" cy="777240"/>
          </a:xfrm>
          <a:prstGeom prst="ellipse">
            <a:avLst/>
          </a:prstGeom>
          <a:solidFill>
            <a:srgbClr val="1FB6C9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5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4462272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71232" y="431596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근거·재현성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6629400" y="497433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데이터·조건을 기록해 재현 가능하게. 규제·인증 대응 시 추적성이 중요</a:t>
            </a:r>
            <a:endParaRPr lang="en-US" sz="11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822960" cy="8229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3" name="Image 0" descr="icons/gradu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6711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INSTRUCTOR · 강의 활용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83080" y="7772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사례, 어떻게 가르칠까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1463040"/>
            <a:ext cx="5285232" cy="4572000"/>
          </a:xfrm>
          <a:prstGeom prst="roundRect">
            <a:avLst>
              <a:gd name="adj" fmla="val 2000"/>
            </a:avLst>
          </a:prstGeom>
          <a:solidFill>
            <a:srgbClr val="0F2540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방법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1488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모듈5(용접) 대체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AFC1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담당 반에서는 용접 대신 이 사례로 60분 진행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병행 비교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AFC1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용접·화학 두 사례를 비교해 ‘방법론은 같다’를 강조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데이터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1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화학/표면처리 데이터셋을 사전 다운로드해 배포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진행 예시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2011680"/>
            <a:ext cx="50109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130552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6F5EF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13055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43800" y="20116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확보·이해 (Step 0–1)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2688336"/>
            <a:ext cx="50109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280720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6F5EF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280720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3800" y="26883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전처리·기초통계 (Step 2–3)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364992"/>
            <a:ext cx="50109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37960" y="3483864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6F5EF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3483864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43800" y="336499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상관·예측 모델 (Step 3–4)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0" y="4041648"/>
            <a:ext cx="50109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38100" dir="2700000">
              <a:srgbClr val="9AA8B5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37960" y="416052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6F5EF"/>
          </a:solidFill>
          <a:ln/>
        </p:spPr>
      </p:sp>
      <p:sp>
        <p:nvSpPr>
          <p:cNvPr id="25" name="Text 22"/>
          <p:cNvSpPr/>
          <p:nvPr/>
        </p:nvSpPr>
        <p:spPr>
          <a:xfrm>
            <a:off x="6537960" y="41605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543800" y="404164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최적조건·리포트 (Step 5)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4800600"/>
            <a:ext cx="5010912" cy="1234440"/>
          </a:xfrm>
          <a:prstGeom prst="roundRect">
            <a:avLst>
              <a:gd name="adj" fmla="val 7407"/>
            </a:avLst>
          </a:prstGeom>
          <a:solidFill>
            <a:srgbClr val="E6F5EF"/>
          </a:solidFill>
          <a:ln w="12700">
            <a:solidFill>
              <a:srgbClr val="1F9E7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29400" y="5029200"/>
            <a:ext cx="594360" cy="59436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9" name="Image 1" descr="icons/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5193792"/>
            <a:ext cx="265176" cy="26517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15200" y="5029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7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확장 미션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629400" y="5394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5E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회사 공정 변수 1개를 골라, 같은 흐름으로 품질과의 관계를 분석해 보세요.”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631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1F9E7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234440"/>
            <a:ext cx="1005840" cy="100584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5" name="Image 0" descr="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14959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 공정도, 답은 데이터에 있습니다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분석 워크플로우가 용접에도, 반응공정에도 통합니다. 도메인을 아는 사람이 데이터를 만나면 가장 강력합니다.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E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사례에서 쓴 자원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9377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6314C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5093208"/>
            <a:ext cx="502920" cy="50292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523951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KAMP 데이터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737360" y="5376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kamp-ai.kr/aidataList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26280" y="49377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6314C"/>
          </a:solidFill>
          <a:ln/>
        </p:spPr>
      </p:sp>
      <p:sp>
        <p:nvSpPr>
          <p:cNvPr id="15" name="Shape 11"/>
          <p:cNvSpPr/>
          <p:nvPr/>
        </p:nvSpPr>
        <p:spPr>
          <a:xfrm>
            <a:off x="4709160" y="5093208"/>
            <a:ext cx="502920" cy="50292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16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523951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+ Gemini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49240" y="5376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138160" y="49377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16314C"/>
          </a:solidFill>
          <a:ln/>
        </p:spPr>
      </p:sp>
      <p:sp>
        <p:nvSpPr>
          <p:cNvPr id="20" name="Shape 15"/>
          <p:cNvSpPr/>
          <p:nvPr/>
        </p:nvSpPr>
        <p:spPr>
          <a:xfrm>
            <a:off x="8321040" y="5093208"/>
            <a:ext cx="502920" cy="502920"/>
          </a:xfrm>
          <a:prstGeom prst="ellipse">
            <a:avLst/>
          </a:prstGeom>
          <a:solidFill>
            <a:srgbClr val="1F9E78"/>
          </a:solidFill>
          <a:ln/>
          <a:effectLst>
            <a:outerShdw sx="100000" sy="100000" kx="0" ky="0" algn="bl" rotWithShape="0" blurRad="76200" dist="25400" dir="2700000">
              <a:srgbClr val="9AA8B5">
                <a:alpha val="18000"/>
              </a:srgbClr>
            </a:outerShdw>
          </a:effectLst>
        </p:spPr>
      </p:sp>
      <p:pic>
        <p:nvPicPr>
          <p:cNvPr id="21" name="Image 3" descr="icons/boo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523951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5029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0" y="53766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notebooklm.google.com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DreamIT Biz · 강사 애본(Aebon)  |  KAMP 데이터 활용 화학공정 품질분석 사례 · 울산 화학 트랙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KAMP 데이터 활용 화학공정 품질분석 사례 — 울산 석유화학 트랙</dc:title>
  <dc:subject>PptxGenJS Presentation</dc:subject>
  <dc:creator>애본 (DreamIT Biz)</dc:creator>
  <cp:lastModifiedBy>애본 (DreamIT Biz)</cp:lastModifiedBy>
  <cp:revision>1</cp:revision>
  <dcterms:created xsi:type="dcterms:W3CDTF">2026-06-22T20:23:41Z</dcterms:created>
  <dcterms:modified xsi:type="dcterms:W3CDTF">2026-06-22T20:23:41Z</dcterms:modified>
</cp:coreProperties>
</file>